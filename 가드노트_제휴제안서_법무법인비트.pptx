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5449824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5449824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66544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50592" y="5449824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79776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63824" y="5449824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202D"/>
          </a:solidFill>
          <a:ln w="15240">
            <a:solidFill>
              <a:srgbClr val="1F2B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77056" y="5449824"/>
            <a:ext cx="329184" cy="0"/>
          </a:xfrm>
          <a:prstGeom prst="line">
            <a:avLst/>
          </a:prstGeom>
          <a:noFill/>
          <a:ln w="17780">
            <a:solidFill>
              <a:srgbClr val="A985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52578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C7A14A"/>
          </a:solidFill>
          <a:ln w="15240">
            <a:solidFill>
              <a:srgbClr val="C7A1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 제안서  ·  법무법인 비트 귀중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783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</a:t>
            </a:r>
            <a:pPr indent="0" marL="0">
              <a:buNone/>
            </a:pPr>
            <a:r>
              <a:rPr lang="en-US" sz="30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×  </a:t>
            </a:r>
            <a:pPr indent="0" marL="0">
              <a:buNone/>
            </a:pPr>
            <a:r>
              <a:rPr lang="en-US" sz="4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법무법인 비트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594360" y="2926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증적 SaaS × 개인정보 전문 로펌 — 함께 만들 수 있는 것들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가드노트는 안전성 확보조치 이행 증적을 위변조 불가능한 해시체인으로 봉인해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“고의·과실 없음” 입증 자료로 축적하는 SaaS입니다. 비트의 개인정보 전문성과 만났을 때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 고객 모두에게 완결된 방어를 제공할 수 있다고 믿어 이 제안을 드립니다.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㈜바틀  ·  한승수  ·  dev@bottlecorp.kr  ·  2026. 7.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이행의 순간 봉인하는, 개인정보 안전조치 증적 원장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개인정보보호법상 손해배상 책임은 기업이 “고의·과실 없음”을 입증해야 면책됩니다 — 가드노트는 그 입증 수단을 평소에 만들어 둡니다.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23225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30175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안전조치 활동이 기록되는 즉시 서버가 SHA-256으로 봉인 — 수정·삭제 API가 존재하지 않습니다.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7408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3225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기록의 해시와 체인으로 연결해 순서·시점 고정. 사후 끼워넣기·소급 수정이 불가능합니다.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0456" y="21031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76488" y="23225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76488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6488" y="30175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제네시스부터 전체 재검증 후 무결성 검증서(PDF)를 생성 — 조사·소송에 그대로 제출합니다.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2519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   </a:t>
            </a:r>
            <a:pPr indent="0" marL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 확보조치 기준(고시) 9개 항목 전부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42519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  </a:t>
            </a:r>
            <a:pPr indent="0" marL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접속로그·권한변경 등 자동 수집 + 수동 기록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81888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모델   </a:t>
            </a:r>
            <a:pPr indent="0" marL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원장은 고객사 통제 밖 중립 서버 — “몰래 고쳤다” 의심 차단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481888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계층   </a:t>
            </a:r>
            <a:pPr indent="0" marL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해시체인 + 꼬리절단 탐지 + 외부 타임스탬프 앵커링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53858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   </a:t>
            </a:r>
            <a:pPr indent="0" marL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발췌 조회 → 무결성 검증서 포함 PDF/CSV 즉시 생성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53858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  </a:t>
            </a:r>
            <a:pPr indent="0" marL="0"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없음(SaaS) · 전자계약·자동결제 온라인 완결 · Free 플랜 제공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— 검증 — 제출, 담당자는 이 세 화면으로 씁니다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운영 중인 서비스 화면 그대로입니다 (데모 테넌트 기준).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386584"/>
            <a:ext cx="3520440" cy="2438019"/>
          </a:xfrm>
          <a:prstGeom prst="roundRect">
            <a:avLst>
              <a:gd name="adj" fmla="val 2250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2455164"/>
            <a:ext cx="82296" cy="82296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2455164"/>
            <a:ext cx="82296" cy="82296"/>
          </a:xfrm>
          <a:prstGeom prst="ellipse">
            <a:avLst/>
          </a:prstGeom>
          <a:solidFill>
            <a:srgbClr val="E6B94D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455164"/>
            <a:ext cx="82296" cy="82296"/>
          </a:xfrm>
          <a:prstGeom prst="ellipse">
            <a:avLst/>
          </a:prstGeom>
          <a:solidFill>
            <a:srgbClr val="5FB980"/>
          </a:solidFill>
          <a:ln/>
        </p:spPr>
      </p:sp>
      <p:pic>
        <p:nvPicPr>
          <p:cNvPr id="11" name="Image 0" descr="/private/tmp/claude-502/-Users-seungsoohan-Projects-GuardNote/91beea4a-0678-4f48-9929-7d6123f61fc8/scratchpad/shots/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606040"/>
            <a:ext cx="3483864" cy="220027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5007483"/>
            <a:ext cx="347472" cy="347472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989195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69848" y="4989195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현황 대시보드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94360" y="5373243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항목의 이행 상태와 방어 준비도 점수. 수집기 연동 시 증적은 자동으로 쌓입니다.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07408" y="2386584"/>
            <a:ext cx="3520440" cy="2438019"/>
          </a:xfrm>
          <a:prstGeom prst="roundRect">
            <a:avLst>
              <a:gd name="adj" fmla="val 2250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26280" y="2455164"/>
            <a:ext cx="82296" cy="82296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8" name="Shape 15"/>
          <p:cNvSpPr/>
          <p:nvPr/>
        </p:nvSpPr>
        <p:spPr>
          <a:xfrm>
            <a:off x="4672584" y="2455164"/>
            <a:ext cx="82296" cy="82296"/>
          </a:xfrm>
          <a:prstGeom prst="ellipse">
            <a:avLst/>
          </a:prstGeom>
          <a:solidFill>
            <a:srgbClr val="E6B94D"/>
          </a:solidFill>
          <a:ln/>
        </p:spPr>
      </p:sp>
      <p:sp>
        <p:nvSpPr>
          <p:cNvPr id="19" name="Shape 16"/>
          <p:cNvSpPr/>
          <p:nvPr/>
        </p:nvSpPr>
        <p:spPr>
          <a:xfrm>
            <a:off x="4818888" y="2455164"/>
            <a:ext cx="82296" cy="82296"/>
          </a:xfrm>
          <a:prstGeom prst="ellipse">
            <a:avLst/>
          </a:prstGeom>
          <a:solidFill>
            <a:srgbClr val="5FB980"/>
          </a:solidFill>
          <a:ln/>
        </p:spPr>
      </p:sp>
      <p:pic>
        <p:nvPicPr>
          <p:cNvPr id="20" name="Image 1" descr="/private/tmp/claude-502/-Users-seungsoohan-Projects-GuardNote/91beea4a-0678-4f48-9929-7d6123f61fc8/scratchpad/shots/led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606040"/>
            <a:ext cx="3483864" cy="220027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407408" y="5007483"/>
            <a:ext cx="347472" cy="347472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315968" y="4989195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82896" y="4989195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증적 원장 · 무결성 검증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407408" y="5373243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한 번으로 전체 체인 재검증 — “봉인 이후 단 한 건도 변경되지 않았습니다”를 즉시 확인합니다.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220456" y="2386584"/>
            <a:ext cx="3520440" cy="2438019"/>
          </a:xfrm>
          <a:prstGeom prst="roundRect">
            <a:avLst>
              <a:gd name="adj" fmla="val 2250"/>
            </a:avLst>
          </a:prstGeom>
          <a:solidFill>
            <a:srgbClr val="0E1621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39328" y="2455164"/>
            <a:ext cx="82296" cy="82296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27" name="Shape 23"/>
          <p:cNvSpPr/>
          <p:nvPr/>
        </p:nvSpPr>
        <p:spPr>
          <a:xfrm>
            <a:off x="8485632" y="2455164"/>
            <a:ext cx="82296" cy="82296"/>
          </a:xfrm>
          <a:prstGeom prst="ellipse">
            <a:avLst/>
          </a:prstGeom>
          <a:solidFill>
            <a:srgbClr val="E6B94D"/>
          </a:solidFill>
          <a:ln/>
        </p:spPr>
      </p:sp>
      <p:sp>
        <p:nvSpPr>
          <p:cNvPr id="28" name="Shape 24"/>
          <p:cNvSpPr/>
          <p:nvPr/>
        </p:nvSpPr>
        <p:spPr>
          <a:xfrm>
            <a:off x="8631936" y="2455164"/>
            <a:ext cx="82296" cy="82296"/>
          </a:xfrm>
          <a:prstGeom prst="ellipse">
            <a:avLst/>
          </a:prstGeom>
          <a:solidFill>
            <a:srgbClr val="5FB980"/>
          </a:solidFill>
          <a:ln/>
        </p:spPr>
      </p:sp>
      <p:pic>
        <p:nvPicPr>
          <p:cNvPr id="29" name="Image 2" descr="/private/tmp/claude-502/-Users-seungsoohan-Projects-GuardNote/91beea4a-0678-4f48-9929-7d6123f61fc8/scratchpad/shots/evide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44" y="2606040"/>
            <a:ext cx="3483864" cy="2200275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8220456" y="5007483"/>
            <a:ext cx="347472" cy="347472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129016" y="4989195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695944" y="4989195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패키지 제출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8220456" y="5373243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무결성 검증서가 붙은 PDF를 즉시 생성해 조사·소송에 그대로 제출합니다.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‘증적’이 자문 시장의 중심으로 오고 있습니다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상반기 제재 동향 — 조사·분쟁의 쟁점이 “조치를 했는가”에서 “증명할 수 있는가”로 이동했습니다.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6,246억 원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95528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과징금 — 역대 최대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3236976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“고도의 해킹이 아니라 기본적인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안전관리 체계 미비” (개인정보위,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2026.6 의결 취지)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0712" y="210312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매출액 3%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61188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과징금 산정 상한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3236976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안전조치 의무 위반 시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매출액 기준 산정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27064" y="210312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8232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14만 명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428232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 분쟁조정 신청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28232" y="3236976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건 하나에 몰린 규모 —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 청구 시대의 개막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43416" y="2103120"/>
            <a:ext cx="2551176" cy="2148840"/>
          </a:xfrm>
          <a:prstGeom prst="roundRect">
            <a:avLst>
              <a:gd name="adj" fmla="val 3830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44584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300만 원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9244584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법정손해배상 (1인당)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44584" y="3236976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 증명 없이 청구 가능 —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고의·과실 요건 삭제 입법도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중 (§39의2)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4663440"/>
            <a:ext cx="11000232" cy="1051560"/>
          </a:xfrm>
          <a:prstGeom prst="roundRect">
            <a:avLst>
              <a:gd name="adj" fmla="val 7826"/>
            </a:avLst>
          </a:prstGeom>
          <a:solidFill>
            <a:srgbClr val="0E1621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28032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기업은 “평소에 증명 수단을 만들어야” 하고, 로펌은 “그 증거로 방어”해야 합니다.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증적을 만드는 SaaS와 증적으로 싸우는 로펌 — 이 제휴가 자연스러운 이유입니다.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법무법인 비트인가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비트를 첫 파트너로 생각한 이유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2002536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84248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1288" y="196596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개인정보가 주력 분야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229514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VEAT PRIVACY CENTER와 개인정보팀 — 유출 대응, 처리방침·위탁계약 검토, ISMS 컨설팅, GDPR/CCPA 자문까지. 가드노트가 쌓는 증적은 정확히 이 자문들의 재료입니다.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026664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08376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99008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기술을 이해하는 로펌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331927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서울대 컴퓨터공학 출신 대표변호사(PIPL 심사원·정보처리기사)와 이공계 전공 변호사진 — 해시체인 기반 증적 시스템의 가치를 있는 그대로 평가할 수 있는 드문 로펌입니다.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050792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32504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" y="401421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SaaS 제휴 경험 보유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모두싸인과 ‘스타트업 계약서 KIT’ 공동 배포, 주주관리 SaaS ZUZU 법률 파트너 — 스타트업 SaaS와의 제휴 실무를 이미 알고 계십니다.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5074920"/>
            <a:ext cx="402336" cy="402336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056632"/>
            <a:ext cx="585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" y="503834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고객군이 정확히 겹침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" y="53675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테크 스타트업·VC 중심 고객 기반과 ‘월간비트’ 뉴스레터(개인정보·AI 주제 다수) — 가드노트의 타깃(전담 보안조직 없는 기술기업)과 같은 풀, 같은 채널입니다.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제안하는 협력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가볍게 시작해 깊게 갈 수 있는 4가지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①②는 바로 시작할 수 있는 것, ③④는 관계가 쌓이면 자연스러운 것 — 모두 대가 비연동·정액 구조입니다.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2104" y="23134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①  계약서 감수 + 신뢰마크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32104" y="26609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" y="26426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→ 비트 (감수료)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" y="30175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가드노트의 서비스 이용계약서·개인정보 처리위탁계약서를 비트가 감수하고, 제품과 소개서에 “법무법인 비트 감수”를 표시합니다. 통상의 수임 — 즉시 착수 가능합니다.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45352" y="21488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83096" y="23134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②  ‘개인정보 방어 KIT’ + 공동 웨비나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83096" y="26609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26426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각자 부담 · 리드 공유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83096" y="30175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위탁계약 템플릿 + 자가진단 체크리스트 + 가드노트 Free를 묶은 KIT 공동 배포 (모두싸인 KIT의 개인정보판). 첫 웨비나: “쿠팡 6,246억 — 제재 수위를 가른 것은 증적이었다”.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4206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" y="43708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③  유출 대응 상호 연계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2104" y="47183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" y="47000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수수료 없음 · 고객이 각자 지불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" y="50749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‘유출 대응’ 화면에 비트를 자문 로펌으로 노출 — 고객이 비트에 직접 수임. 역방향으로 비트 자문 고객에게 가드노트 안내. 소개 대가는 어느 방향으로도 없습니다.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45352" y="4206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83096" y="4370832"/>
            <a:ext cx="4873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</a:rPr>
              <a:t>④  상시 고문계약 + 어드바이저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83096" y="471830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3ECD8"/>
          </a:solidFill>
          <a:ln/>
        </p:spPr>
      </p:sp>
      <p:sp>
        <p:nvSpPr>
          <p:cNvPr id="25" name="Text 23"/>
          <p:cNvSpPr/>
          <p:nvPr/>
        </p:nvSpPr>
        <p:spPr>
          <a:xfrm>
            <a:off x="6483096" y="47000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→ 비트 (고문료)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83096" y="5074920"/>
            <a:ext cx="487375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제품·규제 리스크 상시 자문 + “자문: 법무법인 비트” 표시. 나아가 어드바이저·감사 참여, 지분 참여 옵션까지 열어 두고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변호사법·윤리장전을 전제로 설계했습니다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제휴가 오래가려면 규제 위에 서 있어야 한다고 생각합니다 — 아래 원칙을 지키는 구조만 제안드립니다.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1000232" cy="1115568"/>
          </a:xfrm>
          <a:prstGeom prst="roundRect">
            <a:avLst>
              <a:gd name="adj" fmla="val 7377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2185416"/>
            <a:ext cx="365760" cy="365760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1671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71600" y="20939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소개 대가, 없음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9948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소개에 결부된 수수료·리베이트는 어느 방향으로도 수수하지 않습니다 (변호사법 §34①·② 전제). 상호 소개는 무대가 — 비트의 유인은 커미션이 아니라 증적 고객으로부터 자연히 발생하는 자문 수요라고 봅니다.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209544"/>
            <a:ext cx="11000232" cy="1115568"/>
          </a:xfrm>
          <a:prstGeom prst="roundRect">
            <a:avLst>
              <a:gd name="adj" fmla="val 7377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" y="3429000"/>
            <a:ext cx="365760" cy="365760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4107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분배, 없음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71600" y="3666744"/>
            <a:ext cx="9948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법률사무 수익의 공유·공동수임 구조는 만들지 않습니다 (§34⑤, 윤리장전 §34). 돈의 흐름은 ‘가드노트→비트(감수료·고문료)’ 또는 ‘고객이 각자에게 별도 지불’ 두 가지뿐입니다.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4453128"/>
            <a:ext cx="11000232" cy="1115568"/>
          </a:xfrm>
          <a:prstGeom prst="roundRect">
            <a:avLst>
              <a:gd name="adj" fmla="val 7377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" y="4672584"/>
            <a:ext cx="365760" cy="365760"/>
          </a:xfrm>
          <a:prstGeom prst="ellipse">
            <a:avLst/>
          </a:prstGeom>
          <a:solidFill>
            <a:srgbClr val="F3ECD8"/>
          </a:solidFill>
          <a:ln w="12700">
            <a:solidFill>
              <a:srgbClr val="E6D8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46542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71600" y="45811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광고규정 준수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71600" y="4910328"/>
            <a:ext cx="9948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마케팅에서 ‘무료 법률상담’ 류 표현을 쓰지 않고, 광고는 정액·비연동으로만 합니다 (변협 광고규정, 헌재 2021헌마619 기준 전제).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585216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물론 이 부분의 최종 판단은 비트가 전문가이십니다 — 세부 구조는 비트의 기준에 맞춰 조정하겠습니다.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얻는 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리퍼럴 피 없이도 성립하는 이유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0E1621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법무법인 비트가 얻는 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자문 수요 깔때기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증적을 쌓는 고객 = 점검·조사·소송 자문의 잠재 고객. 유출 사고 시 가드노트 화면에서 비트로 연결됩니다.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3814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리드 채널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웨비나·KIT 배포로 스타트업 리드 확보 — 월간비트 구독자 풀과 상호 보완.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41330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‘기술 로펌’ 브랜딩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해시체인 증적 SaaS의 공식 감수·자문 로펌 — 율촌×BHSN처럼 기술 이해도의 증거가 됩니다.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82803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신규 자문 상품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‘가드노트 증적 기반 정기 컴플라이언스 점검’ 같은 반복형 자문 패키지 설계 가능.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20116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BFAF6"/>
          </a:solidFill>
          <a:ln w="12700">
            <a:solidFill>
              <a:srgbClr val="E4DECF"/>
            </a:solidFill>
            <a:prstDash val="solid"/>
          </a:ln>
          <a:effectLst>
            <a:outerShdw sx="100000" sy="100000" kx="0" ky="0" algn="bl" rotWithShape="0" blurRad="88900" dist="25400" dir="5400000">
              <a:srgbClr val="0E1621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9672" y="22402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가드노트가 얻는 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9672" y="274320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법률 신뢰도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“법무법인 비트 감수” — 법무팀·CISO를 설득하는 가장 강한 신뢰마크.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19672" y="343814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제품의 법적 완성도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계약서·증거 패키지 양식이 실제 조사·소송 실무 기준으로 다듬어집니다.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19672" y="41330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증거력의 실전 검증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비트가 실제 사건에서 가드노트 검증서를 활용 — 케이스 스터디가 됩니다.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19672" y="482803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6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채널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자문 고객·뉴스레터를 통한 자연스러운 도달 (대가 없는 안내).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580644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컴플라이언스 SaaS×전문서비스 제휴(Vanta·Workiva 등)의 공통 원리 — 파트너의 유인은 수수료가 아니라 ‘툴이 만들어 주는 서비스 매출’입니다.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비전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한국형 Breach Coach — 비어 있는 시장을 함께 선점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미국은 사이버보험사가 패널 로펌·포렌식·SaaS를 묶어 사고 대응을 표준화했습니다. 한국은 이 생태계가 아직 없습니다.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52374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미국의 표준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2999232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사이버보험사가 사전 승인 패널(breach coach 로펌 + 포렌식 + 대응 툴)을 운영 — 사고 시 보험금에서 직접 지급. 패널 등재가 로펌 최대 영업 채널이 된 구조 (Coalition, Chubb 등).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96512" y="3291840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07408" y="22860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6202D"/>
          </a:solidFill>
          <a:ln w="12700">
            <a:solidFill>
              <a:srgbClr val="1F2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52374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한국의 공백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999232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사이버보험은 초기 단계 — 공개된 보험사 벤더 패널도, 사고 대응 전업 로펌도 아직 없습니다. 72시간 신고 의무와 맞물린 ‘사고 대응 패키지’ 수요는 확실합니다.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09560" y="3291840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8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0456" y="22860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6202D"/>
          </a:solidFill>
          <a:ln w="17780">
            <a:solidFill>
              <a:srgbClr val="A985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2523744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만들 패키지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76488" y="2999232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비트(법률 총괄) + 가드노트(평시 증적·사고 기록) + 포렌식 파트너 — 이 3자 패키지를 사이버보험사에 패널로 제안합니다. 평시 증적은 보험 언더라이팅 자료도 됩니다.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507492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시작하는 ①감수·②웨비나가 이 장기 그림의 첫 단추입니다.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가드노트 × 법무법인 비트 제휴 제안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가볍게, 두 가지부터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시작하면 어떨까요.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3063240"/>
            <a:ext cx="384048" cy="384048"/>
          </a:xfrm>
          <a:prstGeom prst="ellipse">
            <a:avLst/>
          </a:prstGeom>
          <a:solidFill>
            <a:srgbClr val="16202D"/>
          </a:solidFill>
          <a:ln w="12700">
            <a:solidFill>
              <a:srgbClr val="A985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44952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88720" y="30083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감수 착수   </a:t>
            </a:r>
            <a:pPr indent="0" marL="0">
              <a:buNone/>
            </a:pPr>
            <a:r>
              <a:rPr lang="en-US" sz="11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이용계약서·처리위탁계약서 2건 — 착수 즉시 저희가 감수료를 지급하는 통상 수임입니다.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776472"/>
            <a:ext cx="384048" cy="384048"/>
          </a:xfrm>
          <a:prstGeom prst="ellipse">
            <a:avLst/>
          </a:prstGeom>
          <a:solidFill>
            <a:srgbClr val="16202D"/>
          </a:solidFill>
          <a:ln w="12700">
            <a:solidFill>
              <a:srgbClr val="A985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75818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88720" y="3721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웨비나 1회   </a:t>
            </a:r>
            <a:pPr indent="0" marL="0">
              <a:buNone/>
            </a:pPr>
            <a:r>
              <a:rPr lang="en-US" sz="11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“쿠팡 6,246억 — 제재 수위를 가른 것은 증적이었다” · 비트가 법리, 저희가 시연 · 리드 공유.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489704"/>
            <a:ext cx="384048" cy="384048"/>
          </a:xfrm>
          <a:prstGeom prst="ellipse">
            <a:avLst/>
          </a:prstGeom>
          <a:solidFill>
            <a:srgbClr val="16202D"/>
          </a:solidFill>
          <a:ln w="12700">
            <a:solidFill>
              <a:srgbClr val="A985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471416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A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88720" y="44348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리뷰   </a:t>
            </a:r>
            <a:pPr indent="0" marL="0">
              <a:buNone/>
            </a:pPr>
            <a:r>
              <a:rPr lang="en-US" sz="1100" dirty="0">
                <a:solidFill>
                  <a:srgbClr val="9F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반응을 보고 ③유출 대응 연계, ④고문계약, 장기 비전 순으로 넓혀 가시죠.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5486400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C7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54864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데모·미팅 언제든 환영합니다  ·  dev@bottlecorp.kr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89320" y="5623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㈜바틀 · 한승수 드림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2026-07-02T08:53:37Z</dcterms:created>
  <dcterms:modified xsi:type="dcterms:W3CDTF">2026-07-02T08:53:37Z</dcterms:modified>
</cp:coreProperties>
</file>