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62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38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4128" y="5330952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3312" y="5138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737360" y="5330952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66544" y="5138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450592" y="5330952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79776" y="5138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163824" y="5330952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93008" y="5138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877056" y="5330952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206240" y="5138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7A14A"/>
          </a:solidFill>
          <a:ln w="15240">
            <a:solidFill>
              <a:srgbClr val="C7A1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안전조치 상시 증적 시스템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7830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</a:t>
            </a:r>
            <a:r>
              <a:rPr lang="en-US" sz="20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GuardNote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안전조치를 “했다”가 아니라, “입증한다”.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조사·손해배상 청구가 들어와도 이행 사실을 위변조 불가능한 형태로 증명하는 방어 원장.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기록되는 순간 SHA-256 해시체인으로 봉인되어, 사후에는 누구도 고칠 수 없습니다.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㈜바틀  ·  개인정보보호 컴플라이언스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2026년, 규제 환경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과징금은 이미 ‘조 단위’ 시대에 들어섰습니다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상반기 개인정보보호위원회 제재 동향 — 처벌의 기준은 “해킹의 정교함”이 아니라 “안전조치의 성실함”입니다.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6,246억 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95528" y="2834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과징금 — 역대 최대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319125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3,755만 명 유출.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종전 최대(SKT 1,348억)의 4.6배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(2026.6 개인정보위 의결)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205740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 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11880" y="2834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과징금 산정 상한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19125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안전조치 의무 위반 시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‘전체 매출액’ 기준으로 산정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(위반 무관 매출만 제외)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27064" y="205740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28232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14만 명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28232" y="2834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 분쟁조정 신청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19125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건 하나에 몰린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배상 요구 규모 —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 청구가 일상이 된다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43416" y="205740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244584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48억 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44584" y="2834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 3개사 과징금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44584" y="319125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 수집·안전조치 소홀.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대기업만의 문제가 아니다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(2026.4)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457200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0E1621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이번 사고는 고도의 해킹이 아니라, 기본적인 안전관리 체계 미비와 관리 소홀에서 비롯되었다 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285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개인정보보호위원회, 쿠팡 제재 의결 취지 (2026. 6.)   ·   ‘조치를 성실히 했는가, 그리고 그것을 증명할 수 있는가’가 제재 수위를 가른다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개인정보보호위원회 의결 및 언론 보도 종합 (2026. 6. 기준)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법이 정한 구조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입증하지 못하면, ‘한 것’도 안 한 것이 됩니다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개인정보보호법은 유출 사고의 입증 부담을 기업 쪽에 지웁니다 — 그리고 그 부담은 더 무거워지는 방향으로 갑니다.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048256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201168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입증책임은 기업에 (제39조)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31343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손해배상 소송에서 “고의·과실 없음”은 피해자가 아니라 기업이 스스로 증명해야 면책됩니다. 증명 수단이 없으면, 실제로 조치했더라도 집니다.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298094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법정손해배상 — 1인당 300만 원 (제39조의2)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피해자는 구체적 손해를 증명하지 않아도 1인당 300만 원 이하의 배상을 청구할 수 있습니다. 피해자 수가 곧 배상 규모가 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986784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968496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3950208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징벌적 배상 — 최대 5배 (제39조)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25196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고의·중과실이면 손해액의 최대 5배. ‘중과실이 아니었다’는 것 역시 기업이 증명해야 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956048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4937760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" y="491947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동향 — 요건은 더 강해진다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5221224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당정은 법정손해배상에서 고의·과실 요건 자체를 삭제하는 개정을 추진 중 — 평소의 이행 증적 없이는 방어선이 사라집니다.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2011680"/>
            <a:ext cx="4142232" cy="3749040"/>
          </a:xfrm>
          <a:prstGeom prst="roundRect">
            <a:avLst>
              <a:gd name="adj" fmla="val 2439"/>
            </a:avLst>
          </a:prstGeom>
          <a:solidFill>
            <a:srgbClr val="0E1621"/>
          </a:solidFill>
          <a:ln w="12700">
            <a:solidFill>
              <a:srgbClr val="1F2B3A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72400" y="2286000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10만 명이 유출된다면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2697480"/>
            <a:ext cx="3502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10만 명 × 300만 원
</a:t>
            </a:r>
            <a:r>
              <a:rPr lang="en-US" sz="2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최대 3,000억 원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72400" y="379476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법정손해배상 청구 상한 규모 — 여기에 과징금(매출액 3% 이내)과 징벌적 배상이 별도로 얹힙니다.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4526280"/>
            <a:ext cx="3502152" cy="0"/>
          </a:xfrm>
          <a:prstGeom prst="line">
            <a:avLst/>
          </a:prstGeom>
          <a:noFill/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0" y="4663440"/>
            <a:ext cx="3502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소송의 승패를 가르는 단 하나의 질문 —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“평소에 조치했음을, 지금 증명할 수 있는가?”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진단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지금의 증적은, 소송을 버틸 상태가 아닙니다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기업의 안전조치 기록이 법정에서 무너지는 3가지 이유.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50392" y="2377440"/>
            <a:ext cx="402336" cy="402336"/>
          </a:xfrm>
          <a:prstGeom prst="ellipse">
            <a:avLst/>
          </a:prstGeom>
          <a:solidFill>
            <a:srgbClr val="F4E4DE"/>
          </a:solidFill>
          <a:ln w="12700">
            <a:solidFill>
              <a:srgbClr val="E7CC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58952" y="2359152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흩어져 있다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" y="32918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엑셀·이메일·화면캡처로 부서마다 제각각. 조사 통보를 받고서야 취합을 시작하면 며칠이 걸립니다.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0392" y="4114800"/>
            <a:ext cx="3008376" cy="310896"/>
          </a:xfrm>
          <a:prstGeom prst="roundRect">
            <a:avLst>
              <a:gd name="adj" fmla="val 50000"/>
            </a:avLst>
          </a:prstGeom>
          <a:solidFill>
            <a:srgbClr val="F4E4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0392" y="4096512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제출 기한 초과 리스크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07408" y="21031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02336" cy="402336"/>
          </a:xfrm>
          <a:prstGeom prst="ellipse">
            <a:avLst/>
          </a:prstGeom>
          <a:solidFill>
            <a:srgbClr val="F4E4DE"/>
          </a:solidFill>
          <a:ln w="12700">
            <a:solidFill>
              <a:srgbClr val="E7CC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0" y="2359152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수 있다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2918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파일과 DB는 언제든 수정 가능합니다. “사후에 만들 수 있는 자료”라는 반박 한 번에 증거력이 무너집니다.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4114800"/>
            <a:ext cx="3008376" cy="310896"/>
          </a:xfrm>
          <a:prstGeom prst="roundRect">
            <a:avLst>
              <a:gd name="adj" fmla="val 50000"/>
            </a:avLst>
          </a:prstGeom>
          <a:solidFill>
            <a:srgbClr val="F4E4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63440" y="4096512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증거력 부정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0456" y="21031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476488" y="2377440"/>
            <a:ext cx="402336" cy="402336"/>
          </a:xfrm>
          <a:prstGeom prst="ellipse">
            <a:avLst/>
          </a:prstGeom>
          <a:solidFill>
            <a:srgbClr val="F4E4DE"/>
          </a:solidFill>
          <a:ln w="12700">
            <a:solidFill>
              <a:srgbClr val="E7CC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385048" y="2359152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76488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사후에 만든다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76488" y="32918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뒤 급조한 정리 자료는 방어는커녕 증거인멸·조작 의심을 받아 오히려 제재 가중 요인이 됩니다.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76488" y="4114800"/>
            <a:ext cx="3008376" cy="310896"/>
          </a:xfrm>
          <a:prstGeom prst="roundRect">
            <a:avLst>
              <a:gd name="adj" fmla="val 50000"/>
            </a:avLst>
          </a:prstGeom>
          <a:solidFill>
            <a:srgbClr val="F4E4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476488" y="4096512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신뢰 상실 · 제재 가중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4983480"/>
            <a:ext cx="11000232" cy="914400"/>
          </a:xfrm>
          <a:prstGeom prst="roundRect">
            <a:avLst>
              <a:gd name="adj" fmla="val 9000"/>
            </a:avLst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14400" y="49834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가드노트는 이 세 가지를 동시에 해결합니다 — </a:t>
            </a:r>
            <a:r>
              <a:rPr lang="en-US" sz="13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이행의 순간, 그 자리에서, 고칠 수 없는 형태로 한 원장에 쌓습니다.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· 가드노트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이행의 순간, 되돌릴 수 없게 봉인합니다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안전성 확보조치의 이행 증적을 위변조 불가능한 SHA-256 해시체인으로 상시 축적하는 SaaS.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활동이 기록되는 즉시 서버가 SHA-256으로 봉인 — 수정·삭제 API 자체가 존재하지 않습니다.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07408" y="214884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81728" y="24048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7157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81728" y="3200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기록의 해시와 체인으로 이어 붙여 순서와 시점을 고정 — 끼워넣기·바꿔치기가 불가능합니다.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0456" y="214884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94776" y="24048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94776" y="27157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94776" y="3200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제네시스부터 전체를 재검증해, 제출 가능한 무결성 검증서(PDF)를 즉시 생성합니다.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61772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16202D"/>
          </a:solidFill>
          <a:ln w="1524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773168"/>
            <a:ext cx="10360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모델: 원장은 고객사 통제 밖에 있습니다.
</a:t>
            </a: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봉인·저장·검증은 벤더가 운영하는 중립 서버에서 수행 — “회사가 몰래 고칠 수 있었다”는 의심 자체를 차단합니다. 고객사 내부에는 가벼운 수집기만 둡니다.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원리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건만 고쳐도, 그 뒤가 전부 깨집니다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기록의 해시에 ‘직전 기록의 해시’가 섞여 들어갑니다 — 과거를 고치려면 이후 전체를 다시 조작해야 하고, 그 순간 검증이 실패합니다.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459736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13816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" y="2606040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발생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2971800"/>
            <a:ext cx="2020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변경·암호키 교체·접속기록 점검 등 안전조치 활동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54096" y="28392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38144" y="2148840"/>
            <a:ext cx="2459736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606040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 봉인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971800"/>
            <a:ext cx="2020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내용 + 직전 해시를 SHA-256으로 봉인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97880" y="28392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1928" y="2148840"/>
            <a:ext cx="2459736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01384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1384" y="2606040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 연결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1384" y="2971800"/>
            <a:ext cx="2020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블록처럼 직전 기록에 이어 붙여 원장에 저장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41664" y="28392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25712" y="2148840"/>
            <a:ext cx="2459736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345168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45168" y="2606040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재검증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45168" y="2971800"/>
            <a:ext cx="2020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제네시스부터 재계산 — 변조 지점 이후 전부 무효로 표시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유형별 3중 방어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4599432"/>
            <a:ext cx="329184" cy="329184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4581144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69848" y="4572000"/>
            <a:ext cx="10524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변조 (DB 직접 UPDATE)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해시체인 전체 재계산으로 즉시 탐지 — 변조 지점 이후 전부 무효 처리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074920"/>
            <a:ext cx="329184" cy="329184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5056632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9848" y="5047488"/>
            <a:ext cx="10524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기록 삭제 (꼬리 절단)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원장과 별도 저장된 체인 헤드 포인터와 대조해 삭제 자체를 탐지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5550408"/>
            <a:ext cx="329184" cy="329184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2920" y="553212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69848" y="5522976"/>
            <a:ext cx="10524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전체 조작 (관리자 권한 공격)   </a:t>
            </a: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밖 비밀키의 HMAC 서명 + 외부 타임스탬프 앵커링으로 시점을 박제해 차단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고시가 요구하는 9개 항목, 전부 한 원장으로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「개인정보의 안전성 확보조치 기준」(개인정보보호위원회 고시) 전 항목을 하나의 봉인 원장으로 관리합니다.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13816" y="2427732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22376" y="2409444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관리계획 수립·시행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7408" y="210312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26864" y="2427732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35424" y="2409444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84648" y="2103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권한의 관리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0456" y="210312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439912" y="2427732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48472" y="2409444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97696" y="2103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410712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13816" y="3735324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2376" y="3717036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71600" y="341071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개인정보의 암호화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07408" y="3410712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626864" y="3735324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35424" y="3717036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84648" y="341071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접속기록 보관·점검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0456" y="3410712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439912" y="3735324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348472" y="3717036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97696" y="341071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악성프로그램 등 방지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" y="471830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13816" y="5042916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22376" y="502462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71600" y="4718304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안전조치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407408" y="471830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626864" y="5042916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35424" y="502462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84648" y="4718304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재해·재난 대비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220456" y="471830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439912" y="5042916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348472" y="502462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997696" y="4718304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출력·복사 시 보호조치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94360" y="603504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접속기록은 법정 보존기간(1년 이상) 동안 봉인 보관 — 보존 의무와 증거 확보를 동시에 해결합니다.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기록부터 제출까지, 방어의 전 과정을 커버합니다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13816" y="216712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26771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13816" y="253288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 원장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286207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안전조치 활동을 봉인 기록, 시점순 조회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0712" y="196596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30168" y="216712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730752" y="226771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30168" y="253288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 검증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0168" y="286207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변조는 물론 최근 기록 삭제(꼬리 절단)까지 탐지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27064" y="196596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46520" y="216712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547104" y="226771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46520" y="253288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수집 연동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86207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접속로그·DB audit·KMS 이벤트를 수집 API로 자동 적재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43416" y="196596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262872" y="216712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363456" y="226771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262872" y="253288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무결성 모니터링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62872" y="286207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검증 + 위반 감지 시 웹훅으로 즉시 알림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84048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13816" y="404164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14400" y="414223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13816" y="440740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타임스탬프 앵커링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" y="473659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밖 비밀키 서명으로 특정 시점의 원장 상태를 박제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10712" y="384048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630168" y="404164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730752" y="414223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630168" y="440740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사건별 증거 발췌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30168" y="473659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기간·항목·담당자로 특정 사건 증거만 골라 제출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27064" y="384048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446520" y="404164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547104" y="414223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46520" y="440740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패키지 다운로드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46520" y="473659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 검증서가 붙은 PDF + CSV 원본 즉시 생성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43416" y="3840480"/>
            <a:ext cx="2551176" cy="1600200"/>
          </a:xfrm>
          <a:prstGeom prst="roundRect">
            <a:avLst>
              <a:gd name="adj" fmla="val 5143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262872" y="4041648"/>
            <a:ext cx="310896" cy="31089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363456" y="4142232"/>
            <a:ext cx="109728" cy="109728"/>
          </a:xfrm>
          <a:prstGeom prst="ellipse">
            <a:avLst/>
          </a:prstGeom>
          <a:solidFill>
            <a:srgbClr val="A985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9262872" y="440740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대응 워크플로우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62872" y="4736592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신고·통지 기한 카운트다운, 대응 개시도 봉인 기록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당일부터 법정까지 — 가드노트가 있는 90일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사고가 터진 순간부터, 모든 단계에서 “증명할 수 있는 회사”가 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10634472" cy="0"/>
          </a:xfrm>
          <a:prstGeom prst="line">
            <a:avLst/>
          </a:prstGeom>
          <a:noFill/>
          <a:ln w="254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94944" y="2432304"/>
            <a:ext cx="164592" cy="164592"/>
          </a:xfrm>
          <a:prstGeom prst="ellipse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13816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인지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3816" y="33832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개시 클릭 — 그 시각 자체가 원장에 봉인되어 “지체 없이 대응했다”의 증거가 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432304"/>
            <a:ext cx="164592" cy="164592"/>
          </a:xfrm>
          <a:prstGeom prst="ellipse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19856" y="20116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~72시간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19856" y="283464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39312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신고·통지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9312" y="33832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카운트다운과 법정 양식 초안으로 개인정보위·KISA 신고 완수. 기한 준수는 감경의 핵심 사유.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45936" y="2432304"/>
            <a:ext cx="164592" cy="164592"/>
          </a:xfrm>
          <a:prstGeom prst="ellipse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45352" y="20116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45352" y="283464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64808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대응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64808" y="33832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조사관 요구 자료를 기간·항목별로 발췌, 무결성 검증서가 붙은 PDF로 즉시 제출.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71432" y="2432304"/>
            <a:ext cx="164592" cy="164592"/>
          </a:xfrm>
          <a:prstGeom prst="ellipse">
            <a:avLst/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070848" y="20116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D+90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70848" y="283464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290304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소송·분쟁조정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90304" y="33832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이전부터 쌓인 전체 원장의 검증서 제출 — “고의·과실 없음” 입증의 방어 자료.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5257800"/>
            <a:ext cx="11000232" cy="777240"/>
          </a:xfrm>
          <a:prstGeom prst="roundRect">
            <a:avLst>
              <a:gd name="adj" fmla="val 10588"/>
            </a:avLst>
          </a:prstGeom>
          <a:solidFill>
            <a:srgbClr val="16202D"/>
          </a:solidFill>
          <a:ln w="12700">
            <a:solidFill>
              <a:srgbClr val="A841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14400" y="525780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8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가드노트가 없다면?  </a:t>
            </a:r>
            <a:r>
              <a:rPr lang="en-US" sz="11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취합에 수일 → 기한 초과, 급조 자료 → 증거인멸 의심, 무결성 증명 불가 → 입증 실패.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전과 후 — 같은 사고, 다른 결말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65960"/>
          <a:ext cx="11000232" cy="39684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7A85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84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7D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가드노트 도입 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증적 형태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부서별로 흩어진 파일·메일·캡처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단일 원장에 시점순 봉인 축적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가능성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언제든 수정 가능 — 증거력 취약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봉인 후 변경 불가 · 변조 시 즉시 탐지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 시 초동 대응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취합에만 수일 소요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대응 개시 즉시 봉인 — 기한 카운트다운 가동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자료 제출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자료를 매번 수작업으로 선별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기간·항목·담당자 발췌 → 검증서 PDF 즉시 제출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소송·분쟁조정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이행 입증 곤란 → 배상·과징금 위험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무결성 검증서로 “고의·과실 없음” 입증 자료 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부담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수기 정리·중복 작업 상시 발생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수집기 자동 적재 — 관리 부담 최소화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방식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— 계약부터 결제까지 온라인으로 끝냅니다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서버에 프로그램을 설치하지 않습니다. 온보딩 당일부터 증적이 쌓입니다.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0392" y="2386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267919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 계약 체결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50392" y="3136392"/>
            <a:ext cx="300837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이용계약서와 개인정보 처리위탁 계약서(개인정보보호법 제26조)를 화면에서 전자서명으로 체결합니다. 체결 기록 역시 SHA-256 해시 + 봉인 서명으로 남아 위조가 불가능합니다.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21488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2386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67919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등록 · 자동 결제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3136392"/>
            <a:ext cx="300837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등록 즉시 이용이 시작되고 매월 자동 청구됩니다(토스페이먼츠). 언제든 해지 가능 — 결제된 기간 종료일까지 서비스가 유지되고, 봉인된 원장은 해지 후에도 회수할 수 있습니다.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0456" y="21488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76488" y="2386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76488" y="267919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수집기 연동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76488" y="3136392"/>
            <a:ext cx="300837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내부에는 가벼운 수집기만 둡니다. 접속로그·권한변경 등 이벤트가 API로 자동 적재되고, 실제 봉인·저장·검증은 중립 서버에서 수행되어 증거 신뢰성이 유지됩니다.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521208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플랜은 계약·결제 없이 시작 — 증적 100건까지 무료로 전 과정을 경험할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이렇게 씁니다 — 기록, 검증, 제출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담당자가 실제로 보는 화면 그대로입니다 (데모 테넌트 기준).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13232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59536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05840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/private/tmp/claude-502/-Users-seungsoohan-Projects-GuardNote/91beea4a-0678-4f48-9929-7d6123f61fc8/scratchpad/shots/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606040"/>
            <a:ext cx="3483864" cy="220027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02920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9848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현황 대시보드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94360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항목의 이행 상태와 방어 준비도 점수를 한눈에. 수집기를 연동하면 증적은 자동으로 쌓입니다.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07408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526280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672584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818888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/private/tmp/claude-502/-Users-seungsoohan-Projects-GuardNote/91beea4a-0678-4f48-9929-7d6123f61fc8/scratchpad/shots/led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606040"/>
            <a:ext cx="3483864" cy="220027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407408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315968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82896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 원장 · 무결성 검증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407408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한 번으로 전체 체인 재검증 — “봉인 이후 단 한 건도 변경되지 않았습니다”를 그 자리에서 확인합니다.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220456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8339328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8485632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8631936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/private/tmp/claude-502/-Users-seungsoohan-Projects-GuardNote/91beea4a-0678-4f48-9929-7d6123f61fc8/scratchpad/shots/ev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606040"/>
            <a:ext cx="3483864" cy="220027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220456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8129016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695944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패키지 제출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8220456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조사·소송 시 무결성 검증서가 붙은 PDF를 즉시 다운로드해 그대로 제출합니다.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29만 원으로 시작하는 법적 방어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50392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54203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r>
              <a:rPr lang="en-US" sz="9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50392" y="32461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증적 100건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3666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CSV 내보내기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408736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9개 항목 대시보드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0E1621"/>
          </a:solidFill>
          <a:ln w="19050">
            <a:solidFill>
              <a:srgbClr val="A9852E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20840" y="2139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20840" y="21214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인기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54203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29만 원</a:t>
            </a:r>
            <a:r>
              <a:rPr lang="en-US" sz="9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/월 · VAT 포함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663440" y="32461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증적 10,000건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666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PDF 증거 패키지 (검증서 포함)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08736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자동 무결성 모니터링 + 알림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0456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blurRad="88900" dist="25400" dir="5400000" algn="bl" rotWithShape="0">
              <a:srgbClr val="0E1621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476488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76488" y="254203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99만 원</a:t>
            </a:r>
            <a:r>
              <a:rPr lang="en-US" sz="9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/월 · VAT 포함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476488" y="32461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증적 무제한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76488" y="3666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외부 타임스탬프 앵커링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76488" y="408736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전 기능 + 우선 지원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5074920"/>
            <a:ext cx="11000232" cy="914400"/>
          </a:xfrm>
          <a:prstGeom prst="roundRect">
            <a:avLst>
              <a:gd name="adj" fmla="val 9000"/>
            </a:avLst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감각:  </a:t>
            </a:r>
            <a:r>
              <a:rPr lang="en-US" sz="1300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법정손해배상 상한은 ‘피해자 1인당’ 300만 원입니다. Pro 플랜 1년 비용(348만 원)은 피해자 1.2명분에 불과합니다.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· GuardNote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256032" cy="0"/>
          </a:xfrm>
          <a:prstGeom prst="line">
            <a:avLst/>
          </a:prstGeom>
          <a:noFill/>
          <a:ln w="1524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4712" y="13716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99032" y="1508760"/>
            <a:ext cx="256032" cy="0"/>
          </a:xfrm>
          <a:prstGeom prst="line">
            <a:avLst/>
          </a:prstGeom>
          <a:noFill/>
          <a:ln w="1524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55064" y="13716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29384" y="1508760"/>
            <a:ext cx="256032" cy="0"/>
          </a:xfrm>
          <a:prstGeom prst="line">
            <a:avLst/>
          </a:prstGeom>
          <a:noFill/>
          <a:ln w="1524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85416" y="13716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59736" y="1508760"/>
            <a:ext cx="256032" cy="0"/>
          </a:xfrm>
          <a:prstGeom prst="line">
            <a:avLst/>
          </a:prstGeom>
          <a:noFill/>
          <a:ln w="15240">
            <a:solidFill>
              <a:srgbClr val="A985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15768" y="13716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C7A14A"/>
          </a:solidFill>
          <a:ln w="12700">
            <a:solidFill>
              <a:srgbClr val="C7A1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조사가 들어와도,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입증할 수 있습니다.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943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사고가 나고 나서 준비할 수 있는 증거는 없습니다. 오늘부터 쌓인 하루하루가 방어력이 됩니다.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800600"/>
            <a:ext cx="4937760" cy="658368"/>
          </a:xfrm>
          <a:prstGeom prst="roundRect">
            <a:avLst>
              <a:gd name="adj" fmla="val 13889"/>
            </a:avLst>
          </a:prstGeom>
          <a:solidFill>
            <a:srgbClr val="C7A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480060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플랜으로 오늘 시작 — 증적 100건까지 무료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㈜바틀  ·  개인정보보호책임자 한승수  ·  dev@bottlecorp.kr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1726</Words>
  <Application>Microsoft Macintosh PowerPoint</Application>
  <PresentationFormat>사용자 지정</PresentationFormat>
  <Paragraphs>274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SEUNGSOO HAN</cp:lastModifiedBy>
  <cp:revision>1</cp:revision>
  <dcterms:created xsi:type="dcterms:W3CDTF">2026-07-02T08:22:42Z</dcterms:created>
  <dcterms:modified xsi:type="dcterms:W3CDTF">2026-07-02T08:41:17Z</dcterms:modified>
</cp:coreProperties>
</file>