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183112" cy="5943600"/>
          </a:xfrm>
          <a:prstGeom prst="roundRect">
            <a:avLst>
              <a:gd name="adj" fmla="val 1846"/>
            </a:avLst>
          </a:prstGeom>
          <a:ln w="12700">
            <a:solidFill>
              <a:srgbClr val="2A38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68680"/>
            <a:ext cx="868680" cy="868680"/>
          </a:xfrm>
          <a:prstGeom prst="roundRect">
            <a:avLst>
              <a:gd name="adj" fmla="val 23158"/>
            </a:avLst>
          </a:prstGeom>
          <a:solidFill>
            <a:srgbClr val="C7A14A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069848"/>
            <a:ext cx="466344" cy="466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6112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7A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개인정보 안전조치 상시 증적 시스템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2743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4F1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가드노트</a:t>
            </a:r>
            <a:pPr indent="0" marL="0">
              <a:buNone/>
            </a:pPr>
            <a:r>
              <a:rPr lang="en-US" sz="24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GuardNote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896112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F4F1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안전조치를 “했다”가 아니라, “입증한다”.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896112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사고·조사·손해배상 청구가 들어와도 이행 사실을 위변조 없이 증명하는 방어 원장.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96112" y="562356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6202D"/>
          </a:solidFill>
          <a:ln w="12700">
            <a:solidFill>
              <a:srgbClr val="2A384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98448" y="5824728"/>
            <a:ext cx="164592" cy="0"/>
          </a:xfrm>
          <a:prstGeom prst="line">
            <a:avLst/>
          </a:prstGeom>
          <a:noFill/>
          <a:ln w="19050">
            <a:solidFill>
              <a:srgbClr val="A985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63040" y="562356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6202D"/>
          </a:solidFill>
          <a:ln w="12700">
            <a:solidFill>
              <a:srgbClr val="2A384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65376" y="5824728"/>
            <a:ext cx="164592" cy="0"/>
          </a:xfrm>
          <a:prstGeom prst="line">
            <a:avLst/>
          </a:prstGeom>
          <a:noFill/>
          <a:ln w="19050">
            <a:solidFill>
              <a:srgbClr val="A985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29968" y="562356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6202D"/>
          </a:solidFill>
          <a:ln w="12700">
            <a:solidFill>
              <a:srgbClr val="C7A1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32304" y="5824728"/>
            <a:ext cx="164592" cy="0"/>
          </a:xfrm>
          <a:prstGeom prst="line">
            <a:avLst/>
          </a:prstGeom>
          <a:noFill/>
          <a:ln w="19050">
            <a:solidFill>
              <a:srgbClr val="A985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96896" y="562356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6202D"/>
          </a:solidFill>
          <a:ln w="12700">
            <a:solidFill>
              <a:srgbClr val="2A384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99232" y="5824728"/>
            <a:ext cx="164592" cy="0"/>
          </a:xfrm>
          <a:prstGeom prst="line">
            <a:avLst/>
          </a:prstGeom>
          <a:noFill/>
          <a:ln w="19050">
            <a:solidFill>
              <a:srgbClr val="A9852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63824" y="562356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6202D"/>
          </a:solidFill>
          <a:ln w="12700">
            <a:solidFill>
              <a:srgbClr val="2A384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05072" y="5669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5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 해시 체인으로 봉인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159752" y="60807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㈜바틀  ·  개인정보보호 컴플라이언스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사고가 나면, 입증 책임은 ‘기업’에게 있습니다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개인정보보호법상 손해배상 책임은 사업자가 스스로 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“고의·과실 없음”을 입증</a:t>
            </a:r>
            <a:pPr indent="0" marL="0">
              <a:buNone/>
            </a:pPr>
            <a:r>
              <a:rPr lang="en-US" sz="15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해야만 면책됩니다. 입증하지 못하면, 조치를 실제로 했더라도 책임을 피하기 어렵습니다.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529584" cy="3063240"/>
          </a:xfrm>
          <a:prstGeom prst="roundRect">
            <a:avLst>
              <a:gd name="adj" fmla="val 3582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621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3127248"/>
            <a:ext cx="822960" cy="822960"/>
          </a:xfrm>
          <a:prstGeom prst="roundRect">
            <a:avLst>
              <a:gd name="adj" fmla="val 24000"/>
            </a:avLst>
          </a:prstGeom>
          <a:solidFill>
            <a:srgbClr val="F3ECD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6269" y="3357677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4114800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입증책임</a:t>
            </a:r>
            <a:pPr indent="0" marL="0">
              <a:buNone/>
            </a:pPr>
            <a:r>
              <a:rPr lang="en-US" sz="1600" b="1" dirty="0">
                <a:solidFill>
                  <a:srgbClr val="A98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기업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1005840" y="4828032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고의·과실 없음을 사업자가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스스로 증명해야 면책된다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07992" y="2743200"/>
            <a:ext cx="3529584" cy="3063240"/>
          </a:xfrm>
          <a:prstGeom prst="roundRect">
            <a:avLst>
              <a:gd name="adj" fmla="val 3582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621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73752" y="3127248"/>
            <a:ext cx="822960" cy="822960"/>
          </a:xfrm>
          <a:prstGeom prst="roundRect">
            <a:avLst>
              <a:gd name="adj" fmla="val 24000"/>
            </a:avLst>
          </a:prstGeom>
          <a:solidFill>
            <a:srgbClr val="F3ECD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181" y="3357677"/>
            <a:ext cx="362102" cy="3621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73752" y="4114800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상시</a:t>
            </a:r>
            <a:pPr indent="0" marL="0">
              <a:buNone/>
            </a:pPr>
            <a:r>
              <a:rPr lang="en-US" sz="1600" b="1" dirty="0">
                <a:solidFill>
                  <a:srgbClr val="A98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준비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4873752" y="4828032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사고는 예고 없이 온다.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사후에 만든 자료는 신뢰받지 못한다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375904" y="2743200"/>
            <a:ext cx="3529584" cy="3063240"/>
          </a:xfrm>
          <a:prstGeom prst="roundRect">
            <a:avLst>
              <a:gd name="adj" fmla="val 3582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621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741664" y="3127248"/>
            <a:ext cx="822960" cy="822960"/>
          </a:xfrm>
          <a:prstGeom prst="roundRect">
            <a:avLst>
              <a:gd name="adj" fmla="val 24000"/>
            </a:avLst>
          </a:prstGeom>
          <a:solidFill>
            <a:srgbClr val="F3ECD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093" y="3357677"/>
            <a:ext cx="362102" cy="3621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41664" y="4114800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1년+</a:t>
            </a:r>
            <a:pPr indent="0" marL="0">
              <a:buNone/>
            </a:pPr>
            <a:r>
              <a:rPr lang="en-US" sz="1600" b="1" dirty="0">
                <a:solidFill>
                  <a:srgbClr val="A98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보존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8741664" y="4828032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접속기록 등은 법정 보존 의무.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장기간 안전하게 지켜야 한다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5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4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통찰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‘하는 것’과 ‘입증하는 것’은 다릅니다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852160" cy="1051560"/>
          </a:xfrm>
          <a:prstGeom prst="roundRect">
            <a:avLst>
              <a:gd name="adj" fmla="val 8696"/>
            </a:avLst>
          </a:prstGeom>
          <a:solidFill>
            <a:srgbClr val="FBFAF6"/>
          </a:solidFill>
          <a:ln w="12700">
            <a:solidFill>
              <a:srgbClr val="E7CC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084832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F4E4D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223845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흩어진 증적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377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엑셀·이메일·캡처로 부서마다 제각각 — 모으는 데만 며칠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36392"/>
            <a:ext cx="5852160" cy="1051560"/>
          </a:xfrm>
          <a:prstGeom prst="roundRect">
            <a:avLst>
              <a:gd name="adj" fmla="val 8696"/>
            </a:avLst>
          </a:prstGeom>
          <a:solidFill>
            <a:srgbClr val="FBFAF6"/>
          </a:solidFill>
          <a:ln w="12700">
            <a:solidFill>
              <a:srgbClr val="E7CCC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2688" y="3392424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F4E4D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" y="3546043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3192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가능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91640" y="3685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언제든 고쳐 쓸 수 있어 법정에서 증거력이 약하다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443984"/>
            <a:ext cx="5852160" cy="1051560"/>
          </a:xfrm>
          <a:prstGeom prst="roundRect">
            <a:avLst>
              <a:gd name="adj" fmla="val 8696"/>
            </a:avLst>
          </a:prstGeom>
          <a:solidFill>
            <a:srgbClr val="FBFAF6"/>
          </a:solidFill>
          <a:ln w="12700">
            <a:solidFill>
              <a:srgbClr val="E7CCC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2688" y="4700016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F4E4D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" y="485363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6268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사후 정리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91640" y="499262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후 급히 만들면 오히려 ‘증거인멸’로 의심받는다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903720" y="1828800"/>
            <a:ext cx="4645152" cy="3666744"/>
          </a:xfrm>
          <a:prstGeom prst="roundRect">
            <a:avLst>
              <a:gd name="adj" fmla="val 3491"/>
            </a:avLst>
          </a:prstGeom>
          <a:solidFill>
            <a:srgbClr val="0E1621"/>
          </a:solidFill>
          <a:ln/>
          <a:effectLst>
            <a:outerShdw sx="100000" sy="100000" kx="0" ky="0" algn="bl" rotWithShape="0" blurRad="114300" dist="38100" dir="5400000">
              <a:srgbClr val="0E1621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0" y="2286000"/>
            <a:ext cx="868680" cy="868680"/>
          </a:xfrm>
          <a:prstGeom prst="roundRect">
            <a:avLst>
              <a:gd name="adj" fmla="val 24000"/>
            </a:avLst>
          </a:prstGeom>
          <a:solidFill>
            <a:srgbClr val="1F2B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430" y="2529230"/>
            <a:ext cx="382219" cy="3822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337560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4F1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가드노트는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4F1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공백을 메웁니다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7315200" y="4526280"/>
            <a:ext cx="3822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이행의 순간 그 자리에서 봉인해, 나중에 고칠 수 없는 형태로 쌓아 둡니다.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5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A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· 가드노트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이행의 순간, 되돌릴 수 없게 봉인합니다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9개 안전성 확보조치의 이행 증적을 </a:t>
            </a:r>
            <a:pPr indent="0" marL="0">
              <a:buNone/>
            </a:pPr>
            <a:r>
              <a:rPr lang="en-US" sz="1600" b="1" dirty="0">
                <a:solidFill>
                  <a:srgbClr val="C7A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위변조 불가능한 해시 체인</a:t>
            </a:r>
            <a:pPr indent="0" marL="0">
              <a:buNone/>
            </a:pPr>
            <a:r>
              <a:rPr lang="en-US" sz="16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 상시 축적하는 시스템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529584" cy="3200400"/>
          </a:xfrm>
          <a:prstGeom prst="roundRect">
            <a:avLst>
              <a:gd name="adj" fmla="val 3429"/>
            </a:avLst>
          </a:prstGeom>
          <a:solidFill>
            <a:srgbClr val="16202D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3108960"/>
            <a:ext cx="914400" cy="914400"/>
          </a:xfrm>
          <a:prstGeom prst="roundRect">
            <a:avLst>
              <a:gd name="adj" fmla="val 24000"/>
            </a:avLst>
          </a:prstGeom>
          <a:solidFill>
            <a:srgbClr val="1F2B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336499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4251960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8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pPr indent="0" marL="0">
              <a:buNone/>
            </a:pPr>
            <a:r>
              <a:rPr lang="en-US" sz="2600" b="1" dirty="0">
                <a:solidFill>
                  <a:srgbClr val="F4F1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봉인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24128" y="4892040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기록되는 즉시 SHA-256으로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봉인 — 이후 내용 변경 불가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07992" y="2697480"/>
            <a:ext cx="3529584" cy="3200400"/>
          </a:xfrm>
          <a:prstGeom prst="roundRect">
            <a:avLst>
              <a:gd name="adj" fmla="val 3429"/>
            </a:avLst>
          </a:prstGeom>
          <a:solidFill>
            <a:srgbClr val="16202D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92040" y="3108960"/>
            <a:ext cx="914400" cy="914400"/>
          </a:xfrm>
          <a:prstGeom prst="roundRect">
            <a:avLst>
              <a:gd name="adj" fmla="val 24000"/>
            </a:avLst>
          </a:prstGeom>
          <a:solidFill>
            <a:srgbClr val="1F2B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336499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2040" y="4251960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8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pPr indent="0" marL="0">
              <a:buNone/>
            </a:pPr>
            <a:r>
              <a:rPr lang="en-US" sz="2600" b="1" dirty="0">
                <a:solidFill>
                  <a:srgbClr val="F4F1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연결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92040" y="4892040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직전 기록의 해시와 체인으로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이어 붙여 순서·시점을 고정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375904" y="2697480"/>
            <a:ext cx="3529584" cy="3200400"/>
          </a:xfrm>
          <a:prstGeom prst="roundRect">
            <a:avLst>
              <a:gd name="adj" fmla="val 3429"/>
            </a:avLst>
          </a:prstGeom>
          <a:solidFill>
            <a:srgbClr val="16202D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759952" y="3108960"/>
            <a:ext cx="914400" cy="914400"/>
          </a:xfrm>
          <a:prstGeom prst="roundRect">
            <a:avLst>
              <a:gd name="adj" fmla="val 24000"/>
            </a:avLst>
          </a:prstGeom>
          <a:solidFill>
            <a:srgbClr val="1F2B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984" y="336499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59952" y="4251960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8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pPr indent="0" marL="0">
              <a:buNone/>
            </a:pPr>
            <a:r>
              <a:rPr lang="en-US" sz="2600" b="1" dirty="0">
                <a:solidFill>
                  <a:srgbClr val="F4F1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입증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759952" y="4892040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언제든 전체를 재검증해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가능한 무결성 검증서 생성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5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작동 원리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어떻게 위변조가 불가능한가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78608" cy="2834640"/>
          </a:xfrm>
          <a:prstGeom prst="roundRect">
            <a:avLst>
              <a:gd name="adj" fmla="val 425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62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7904" y="2286000"/>
            <a:ext cx="822960" cy="822960"/>
          </a:xfrm>
          <a:prstGeom prst="roundRect">
            <a:avLst>
              <a:gd name="adj" fmla="val 24000"/>
            </a:avLst>
          </a:prstGeom>
          <a:solidFill>
            <a:srgbClr val="0E162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8333" y="251642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17296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8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활동 발생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384048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변경·키 교체·점검 등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안전조치 활동이 일어난다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326440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602736" y="1965960"/>
            <a:ext cx="2578608" cy="2834640"/>
          </a:xfrm>
          <a:prstGeom prst="roundRect">
            <a:avLst>
              <a:gd name="adj" fmla="val 425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621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480560" y="2286000"/>
            <a:ext cx="822960" cy="822960"/>
          </a:xfrm>
          <a:prstGeom prst="roundRect">
            <a:avLst>
              <a:gd name="adj" fmla="val 24000"/>
            </a:avLst>
          </a:prstGeom>
          <a:solidFill>
            <a:srgbClr val="0E162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989" y="2516429"/>
            <a:ext cx="362102" cy="3621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02736" y="317296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8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602736" y="342900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해시 봉인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3831336" y="384048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서버가 내용+직전 해시를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SHA-256으로 봉인한다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3264408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565392" y="1965960"/>
            <a:ext cx="2578608" cy="2834640"/>
          </a:xfrm>
          <a:prstGeom prst="roundRect">
            <a:avLst>
              <a:gd name="adj" fmla="val 425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621">
                <a:alpha val="14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443216" y="2286000"/>
            <a:ext cx="822960" cy="822960"/>
          </a:xfrm>
          <a:prstGeom prst="roundRect">
            <a:avLst>
              <a:gd name="adj" fmla="val 24000"/>
            </a:avLst>
          </a:prstGeom>
          <a:solidFill>
            <a:srgbClr val="0E162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645" y="2516429"/>
            <a:ext cx="362102" cy="36210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65392" y="317296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8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6565392" y="342900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체인 연결</a:t>
            </a:r>
            <a:endParaRPr lang="en-US" sz="1900" dirty="0"/>
          </a:p>
        </p:txBody>
      </p:sp>
      <p:sp>
        <p:nvSpPr>
          <p:cNvPr id="23" name="Text 16"/>
          <p:cNvSpPr/>
          <p:nvPr/>
        </p:nvSpPr>
        <p:spPr>
          <a:xfrm>
            <a:off x="6793992" y="384048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블록처럼 직전 기록에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이어 붙여 원장에 저장</a:t>
            </a:r>
            <a:endParaRPr lang="en-US" sz="12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7152" y="3264408"/>
            <a:ext cx="23774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528048" y="1965960"/>
            <a:ext cx="2578608" cy="2834640"/>
          </a:xfrm>
          <a:prstGeom prst="roundRect">
            <a:avLst>
              <a:gd name="adj" fmla="val 425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621">
                <a:alpha val="14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10405872" y="2286000"/>
            <a:ext cx="822960" cy="822960"/>
          </a:xfrm>
          <a:prstGeom prst="roundRect">
            <a:avLst>
              <a:gd name="adj" fmla="val 24000"/>
            </a:avLst>
          </a:prstGeom>
          <a:solidFill>
            <a:srgbClr val="0E1621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6301" y="2516429"/>
            <a:ext cx="362102" cy="36210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528048" y="317296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8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9528048" y="342900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재검증</a:t>
            </a:r>
            <a:endParaRPr lang="en-US" sz="1900" dirty="0"/>
          </a:p>
        </p:txBody>
      </p:sp>
      <p:sp>
        <p:nvSpPr>
          <p:cNvPr id="30" name="Text 21"/>
          <p:cNvSpPr/>
          <p:nvPr/>
        </p:nvSpPr>
        <p:spPr>
          <a:xfrm>
            <a:off x="9756648" y="384048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건만 고쳐도 그 지점부터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뒤가 전부 깨져 즉시 드러남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40080" y="5166360"/>
            <a:ext cx="10908792" cy="960120"/>
          </a:xfrm>
          <a:prstGeom prst="roundRect">
            <a:avLst>
              <a:gd name="adj" fmla="val 11429"/>
            </a:avLst>
          </a:prstGeom>
          <a:solidFill>
            <a:srgbClr val="0E1621"/>
          </a:solidFill>
          <a:ln/>
          <a:effectLst>
            <a:outerShdw sx="100000" sy="100000" kx="0" ky="0" algn="bl" rotWithShape="0" blurRad="114300" dist="38100" dir="5400000">
              <a:srgbClr val="0E1621">
                <a:alpha val="14000"/>
              </a:srgbClr>
            </a:outerShdw>
          </a:effectLst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5468112"/>
            <a:ext cx="365760" cy="36576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508760" y="5394960"/>
            <a:ext cx="9811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DB를 직접 고치거나, 최근 기록을 통째로 지워도 잡힙니다.  </a:t>
            </a:r>
            <a:pPr indent="0" marL="0">
              <a:buNone/>
            </a:pPr>
            <a:r>
              <a:rPr lang="en-US" sz="135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 수정은 체인 재계산으로, 기록 삭제(꼬리 절단)는 별도의 체인 헤드 대조로 각각 탐지합니다.</a:t>
            </a:r>
            <a:endParaRPr lang="en-US" sz="1350" dirty="0"/>
          </a:p>
        </p:txBody>
      </p:sp>
      <p:sp>
        <p:nvSpPr>
          <p:cNvPr id="34" name="Text 24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5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커버리지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안전성 확보조치 9개 항목, 상시 관리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개인정보의 안전성 확보조치 기준(고시) 전 항목을 하나의 원장으로 묶어 관리합니다.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29584" cy="1170432"/>
          </a:xfrm>
          <a:prstGeom prst="roundRect">
            <a:avLst>
              <a:gd name="adj" fmla="val 7813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76200" dist="25400" dir="5400000">
              <a:srgbClr val="0E162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77440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F3EC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02" y="2551542"/>
            <a:ext cx="273588" cy="273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3225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5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691640" y="2578608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관리계획 수립·시행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07992" y="2103120"/>
            <a:ext cx="3529584" cy="1170432"/>
          </a:xfrm>
          <a:prstGeom prst="roundRect">
            <a:avLst>
              <a:gd name="adj" fmla="val 7813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76200" dist="25400" dir="5400000">
              <a:srgbClr val="0E162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82312" y="2377440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F3ECD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414" y="2551542"/>
            <a:ext cx="273588" cy="273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9552" y="23225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5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559552" y="2578608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권한의 관리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375904" y="2103120"/>
            <a:ext cx="3529584" cy="1170432"/>
          </a:xfrm>
          <a:prstGeom prst="roundRect">
            <a:avLst>
              <a:gd name="adj" fmla="val 7813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76200" dist="25400" dir="5400000">
              <a:srgbClr val="0E162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50224" y="2377440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F3ECD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326" y="2551542"/>
            <a:ext cx="273588" cy="273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27464" y="23225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5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9427464" y="2578608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통제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40080" y="3547872"/>
            <a:ext cx="3529584" cy="1170432"/>
          </a:xfrm>
          <a:prstGeom prst="roundRect">
            <a:avLst>
              <a:gd name="adj" fmla="val 7813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76200" dist="25400" dir="5400000">
              <a:srgbClr val="0E162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" y="3822192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F3ECD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502" y="3996294"/>
            <a:ext cx="273588" cy="273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3767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5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691640" y="402336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개인정보의 암호화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4507992" y="3547872"/>
            <a:ext cx="3529584" cy="1170432"/>
          </a:xfrm>
          <a:prstGeom prst="roundRect">
            <a:avLst>
              <a:gd name="adj" fmla="val 7813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76200" dist="25400" dir="5400000">
              <a:srgbClr val="0E1621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82312" y="3822192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F3ECD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414" y="3996294"/>
            <a:ext cx="273588" cy="273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59552" y="3767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5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559552" y="402336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접속기록 보관·점검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8375904" y="3547872"/>
            <a:ext cx="3529584" cy="1170432"/>
          </a:xfrm>
          <a:prstGeom prst="roundRect">
            <a:avLst>
              <a:gd name="adj" fmla="val 7813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76200" dist="25400" dir="5400000">
              <a:srgbClr val="0E1621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650224" y="3822192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F3ECD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4326" y="3996294"/>
            <a:ext cx="273588" cy="2735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427464" y="3767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5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9427464" y="402336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악성프로그램 등 방지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640080" y="4992624"/>
            <a:ext cx="3529584" cy="1170432"/>
          </a:xfrm>
          <a:prstGeom prst="roundRect">
            <a:avLst>
              <a:gd name="adj" fmla="val 7813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76200" dist="25400" dir="5400000">
              <a:srgbClr val="0E1621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914400" y="5266944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F3ECD8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502" y="5441046"/>
            <a:ext cx="273588" cy="27358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691640" y="5212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5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1691640" y="5468112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물리적 안전조치</a:t>
            </a:r>
            <a:endParaRPr lang="en-US" sz="1400" dirty="0"/>
          </a:p>
        </p:txBody>
      </p:sp>
      <p:sp>
        <p:nvSpPr>
          <p:cNvPr id="40" name="Shape 31"/>
          <p:cNvSpPr/>
          <p:nvPr/>
        </p:nvSpPr>
        <p:spPr>
          <a:xfrm>
            <a:off x="4507992" y="4992624"/>
            <a:ext cx="3529584" cy="1170432"/>
          </a:xfrm>
          <a:prstGeom prst="roundRect">
            <a:avLst>
              <a:gd name="adj" fmla="val 7813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76200" dist="25400" dir="5400000">
              <a:srgbClr val="0E1621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782312" y="5266944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F3ECD8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414" y="5441046"/>
            <a:ext cx="273588" cy="27358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559552" y="5212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5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5559552" y="5468112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재해·재난 대비</a:t>
            </a:r>
            <a:endParaRPr lang="en-US" sz="1400" dirty="0"/>
          </a:p>
        </p:txBody>
      </p:sp>
      <p:sp>
        <p:nvSpPr>
          <p:cNvPr id="45" name="Shape 35"/>
          <p:cNvSpPr/>
          <p:nvPr/>
        </p:nvSpPr>
        <p:spPr>
          <a:xfrm>
            <a:off x="8375904" y="4992624"/>
            <a:ext cx="3529584" cy="1170432"/>
          </a:xfrm>
          <a:prstGeom prst="roundRect">
            <a:avLst>
              <a:gd name="adj" fmla="val 7813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76200" dist="25400" dir="5400000">
              <a:srgbClr val="0E1621">
                <a:alpha val="10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8650224" y="5266944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F3ECD8"/>
          </a:solidFill>
          <a:ln/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4326" y="5441046"/>
            <a:ext cx="273588" cy="273588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9427464" y="5212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5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100" dirty="0"/>
          </a:p>
        </p:txBody>
      </p:sp>
      <p:sp>
        <p:nvSpPr>
          <p:cNvPr id="49" name="Text 38"/>
          <p:cNvSpPr/>
          <p:nvPr/>
        </p:nvSpPr>
        <p:spPr>
          <a:xfrm>
            <a:off x="9427464" y="5468112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출력·복사 시 보호조치</a:t>
            </a:r>
            <a:endParaRPr lang="en-US" sz="1400" dirty="0"/>
          </a:p>
        </p:txBody>
      </p:sp>
      <p:sp>
        <p:nvSpPr>
          <p:cNvPr id="50" name="Text 39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5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필요한 방어를 하나로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96896" cy="1783080"/>
          </a:xfrm>
          <a:prstGeom prst="roundRect">
            <a:avLst>
              <a:gd name="adj" fmla="val 6154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76200" dist="25400" dir="5400000">
              <a:srgbClr val="0E162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640080" cy="640080"/>
          </a:xfrm>
          <a:prstGeom prst="roundRect">
            <a:avLst>
              <a:gd name="adj" fmla="val 24000"/>
            </a:avLst>
          </a:prstGeom>
          <a:solidFill>
            <a:srgbClr val="0E162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622" y="223662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7889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증적 원장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6112" y="317296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안전조치 활동을 봉인 기록하고 시점순으로 조회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93008" y="1783080"/>
            <a:ext cx="2596896" cy="1783080"/>
          </a:xfrm>
          <a:prstGeom prst="roundRect">
            <a:avLst>
              <a:gd name="adj" fmla="val 6154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76200" dist="25400" dir="5400000">
              <a:srgbClr val="0E162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67328" y="2057400"/>
            <a:ext cx="640080" cy="640080"/>
          </a:xfrm>
          <a:prstGeom prst="roundRect">
            <a:avLst>
              <a:gd name="adj" fmla="val 24000"/>
            </a:avLst>
          </a:prstGeom>
          <a:solidFill>
            <a:srgbClr val="0E162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550" y="223662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27889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검증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749040" y="317296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위변조는 물론, 최근 기록 삭제(꼬리 절단)까지 탐지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345936" y="1783080"/>
            <a:ext cx="2596896" cy="1783080"/>
          </a:xfrm>
          <a:prstGeom prst="roundRect">
            <a:avLst>
              <a:gd name="adj" fmla="val 6154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76200" dist="25400" dir="5400000">
              <a:srgbClr val="0E162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20256" y="2057400"/>
            <a:ext cx="640080" cy="640080"/>
          </a:xfrm>
          <a:prstGeom prst="roundRect">
            <a:avLst>
              <a:gd name="adj" fmla="val 24000"/>
            </a:avLst>
          </a:prstGeom>
          <a:solidFill>
            <a:srgbClr val="0E162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478" y="223662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01968" y="27889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수집 연동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601968" y="317296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접속로그·DB audit·KMS 이벤트를 수집 API로 자동 적재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198864" y="1783080"/>
            <a:ext cx="2596896" cy="1783080"/>
          </a:xfrm>
          <a:prstGeom prst="roundRect">
            <a:avLst>
              <a:gd name="adj" fmla="val 6154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76200" dist="25400" dir="5400000">
              <a:srgbClr val="0E162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73184" y="2057400"/>
            <a:ext cx="640080" cy="640080"/>
          </a:xfrm>
          <a:prstGeom prst="roundRect">
            <a:avLst>
              <a:gd name="adj" fmla="val 24000"/>
            </a:avLst>
          </a:prstGeom>
          <a:solidFill>
            <a:srgbClr val="0E162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2406" y="223662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54896" y="27889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고객사별 완전 격리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454896" y="317296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테넌트마다 원장이 분리 — 다른 고객사 데이터 접근 불가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" y="3840480"/>
            <a:ext cx="2596896" cy="1783080"/>
          </a:xfrm>
          <a:prstGeom prst="roundRect">
            <a:avLst>
              <a:gd name="adj" fmla="val 6154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76200" dist="25400" dir="5400000">
              <a:srgbClr val="0E162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4400" y="4114800"/>
            <a:ext cx="640080" cy="640080"/>
          </a:xfrm>
          <a:prstGeom prst="roundRect">
            <a:avLst>
              <a:gd name="adj" fmla="val 24000"/>
            </a:avLst>
          </a:prstGeom>
          <a:solidFill>
            <a:srgbClr val="0E162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622" y="4294022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96112" y="48463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사건별 증거 발췌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96112" y="523036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기간·항목·담당자로 특정 사건 증거만 골라 조회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493008" y="3840480"/>
            <a:ext cx="2596896" cy="1783080"/>
          </a:xfrm>
          <a:prstGeom prst="roundRect">
            <a:avLst>
              <a:gd name="adj" fmla="val 6154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76200" dist="25400" dir="5400000">
              <a:srgbClr val="0E1621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767328" y="4114800"/>
            <a:ext cx="640080" cy="640080"/>
          </a:xfrm>
          <a:prstGeom prst="roundRect">
            <a:avLst>
              <a:gd name="adj" fmla="val 24000"/>
            </a:avLst>
          </a:prstGeom>
          <a:solidFill>
            <a:srgbClr val="0E162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6550" y="4294022"/>
            <a:ext cx="281635" cy="28163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749040" y="48463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 패키지 다운로드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749040" y="523036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검증서 + CSV 원본을 실제 파일로 즉시 다운로드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345936" y="3840480"/>
            <a:ext cx="2596896" cy="1783080"/>
          </a:xfrm>
          <a:prstGeom prst="roundRect">
            <a:avLst>
              <a:gd name="adj" fmla="val 6154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76200" dist="25400" dir="5400000">
              <a:srgbClr val="0E1621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620256" y="4114800"/>
            <a:ext cx="640080" cy="640080"/>
          </a:xfrm>
          <a:prstGeom prst="roundRect">
            <a:avLst>
              <a:gd name="adj" fmla="val 24000"/>
            </a:avLst>
          </a:prstGeom>
          <a:solidFill>
            <a:srgbClr val="0E1621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9478" y="4294022"/>
            <a:ext cx="281635" cy="28163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601968" y="48463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유출 대응 워크플로우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601968" y="523036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통지·신고 기한 카운트다운과 법정 양식 초안 대기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9198864" y="3840480"/>
            <a:ext cx="2596896" cy="1783080"/>
          </a:xfrm>
          <a:prstGeom prst="roundRect">
            <a:avLst>
              <a:gd name="adj" fmla="val 6154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76200" dist="25400" dir="5400000">
              <a:srgbClr val="0E1621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473184" y="4114800"/>
            <a:ext cx="640080" cy="640080"/>
          </a:xfrm>
          <a:prstGeom prst="roundRect">
            <a:avLst>
              <a:gd name="adj" fmla="val 24000"/>
            </a:avLst>
          </a:prstGeom>
          <a:solidFill>
            <a:srgbClr val="0E1621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2406" y="4294022"/>
            <a:ext cx="281635" cy="28163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454896" y="48463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현황 대시보드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9454896" y="523036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항목별 이행 상태와 방어 준비도를 한눈에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5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효과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도입 전과 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0" y="1691640"/>
            <a:ext cx="3945636" cy="457200"/>
          </a:xfrm>
          <a:prstGeom prst="roundRect">
            <a:avLst>
              <a:gd name="adj" fmla="val 12000"/>
            </a:avLst>
          </a:prstGeom>
          <a:solidFill>
            <a:srgbClr val="F4E4DE"/>
          </a:solidFill>
          <a:ln w="12700">
            <a:solidFill>
              <a:srgbClr val="E7CC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1691640"/>
            <a:ext cx="3945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4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03236" y="1691640"/>
            <a:ext cx="3945636" cy="45720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03236" y="1691640"/>
            <a:ext cx="3945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7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가드노트 도입 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95144"/>
            <a:ext cx="24688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증적 형태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83280" y="2295144"/>
            <a:ext cx="3945636" cy="548640"/>
          </a:xfrm>
          <a:prstGeom prst="roundRect">
            <a:avLst>
              <a:gd name="adj" fmla="val 1500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2295144"/>
            <a:ext cx="3305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부서별로 흩어진 파일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03236" y="2295144"/>
            <a:ext cx="3945636" cy="548640"/>
          </a:xfrm>
          <a:prstGeom prst="roundRect">
            <a:avLst>
              <a:gd name="adj" fmla="val 15000"/>
            </a:avLst>
          </a:prstGeom>
          <a:solidFill>
            <a:srgbClr val="F0F6F1"/>
          </a:solidFill>
          <a:ln w="12700">
            <a:solidFill>
              <a:srgbClr val="CFE3D8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4404" y="2468880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151876" y="2295144"/>
            <a:ext cx="3214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원장에 봉인 축적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2935224"/>
            <a:ext cx="24688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가능성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3383280" y="2935224"/>
            <a:ext cx="3945636" cy="548640"/>
          </a:xfrm>
          <a:prstGeom prst="roundRect">
            <a:avLst>
              <a:gd name="adj" fmla="val 1500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0" y="2935224"/>
            <a:ext cx="3305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언제든 고칠 수 있음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603236" y="2935224"/>
            <a:ext cx="3945636" cy="548640"/>
          </a:xfrm>
          <a:prstGeom prst="roundRect">
            <a:avLst>
              <a:gd name="adj" fmla="val 15000"/>
            </a:avLst>
          </a:prstGeom>
          <a:solidFill>
            <a:srgbClr val="F0F6F1"/>
          </a:solidFill>
          <a:ln w="12700">
            <a:solidFill>
              <a:srgbClr val="CFE3D8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404" y="310896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151876" y="2935224"/>
            <a:ext cx="3214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봉인 후 변경 불가·즉시 탐지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40080" y="3575304"/>
            <a:ext cx="24688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시 대응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3383280" y="3575304"/>
            <a:ext cx="3945636" cy="548640"/>
          </a:xfrm>
          <a:prstGeom prst="roundRect">
            <a:avLst>
              <a:gd name="adj" fmla="val 1500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840480" y="3575304"/>
            <a:ext cx="3305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취합에 수일 소요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7603236" y="3575304"/>
            <a:ext cx="3945636" cy="548640"/>
          </a:xfrm>
          <a:prstGeom prst="roundRect">
            <a:avLst>
              <a:gd name="adj" fmla="val 15000"/>
            </a:avLst>
          </a:prstGeom>
          <a:solidFill>
            <a:srgbClr val="F0F6F1"/>
          </a:solidFill>
          <a:ln w="12700">
            <a:solidFill>
              <a:srgbClr val="CFE3D8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404" y="3749040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151876" y="3575304"/>
            <a:ext cx="3214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PDF·CSV 증거 패키지 즉시 다운로드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40080" y="4215384"/>
            <a:ext cx="24688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조사·소송 대응</a:t>
            </a:r>
            <a:endParaRPr lang="en-US" sz="1350" dirty="0"/>
          </a:p>
        </p:txBody>
      </p:sp>
      <p:sp>
        <p:nvSpPr>
          <p:cNvPr id="28" name="Shape 23"/>
          <p:cNvSpPr/>
          <p:nvPr/>
        </p:nvSpPr>
        <p:spPr>
          <a:xfrm>
            <a:off x="3383280" y="4215384"/>
            <a:ext cx="3945636" cy="548640"/>
          </a:xfrm>
          <a:prstGeom prst="roundRect">
            <a:avLst>
              <a:gd name="adj" fmla="val 1500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840480" y="4215384"/>
            <a:ext cx="3305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입증 곤란, 책임 위험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7603236" y="4215384"/>
            <a:ext cx="3945636" cy="548640"/>
          </a:xfrm>
          <a:prstGeom prst="roundRect">
            <a:avLst>
              <a:gd name="adj" fmla="val 15000"/>
            </a:avLst>
          </a:prstGeom>
          <a:solidFill>
            <a:srgbClr val="F0F6F1"/>
          </a:solidFill>
          <a:ln w="12700">
            <a:solidFill>
              <a:srgbClr val="CFE3D8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404" y="4389120"/>
            <a:ext cx="201168" cy="2011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151876" y="4215384"/>
            <a:ext cx="3214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검증서로 이행 입증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40080" y="4855464"/>
            <a:ext cx="24688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사건별 조회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3383280" y="4855464"/>
            <a:ext cx="3945636" cy="548640"/>
          </a:xfrm>
          <a:prstGeom prst="roundRect">
            <a:avLst>
              <a:gd name="adj" fmla="val 1500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840480" y="4855464"/>
            <a:ext cx="3305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자료를 매번 뒤져야 함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7603236" y="4855464"/>
            <a:ext cx="3945636" cy="548640"/>
          </a:xfrm>
          <a:prstGeom prst="roundRect">
            <a:avLst>
              <a:gd name="adj" fmla="val 15000"/>
            </a:avLst>
          </a:prstGeom>
          <a:solidFill>
            <a:srgbClr val="F0F6F1"/>
          </a:solidFill>
          <a:ln w="12700">
            <a:solidFill>
              <a:srgbClr val="CFE3D8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4404" y="5029200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151876" y="4855464"/>
            <a:ext cx="3214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기간·항목·담당자로 즉시 발췌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640080" y="5495544"/>
            <a:ext cx="24688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 부담</a:t>
            </a:r>
            <a:endParaRPr lang="en-US" sz="1350" dirty="0"/>
          </a:p>
        </p:txBody>
      </p:sp>
      <p:sp>
        <p:nvSpPr>
          <p:cNvPr id="40" name="Shape 33"/>
          <p:cNvSpPr/>
          <p:nvPr/>
        </p:nvSpPr>
        <p:spPr>
          <a:xfrm>
            <a:off x="3383280" y="5495544"/>
            <a:ext cx="3945636" cy="548640"/>
          </a:xfrm>
          <a:prstGeom prst="roundRect">
            <a:avLst>
              <a:gd name="adj" fmla="val 1500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3840480" y="5495544"/>
            <a:ext cx="3305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수기 정리·중복 작업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7603236" y="5495544"/>
            <a:ext cx="3945636" cy="548640"/>
          </a:xfrm>
          <a:prstGeom prst="roundRect">
            <a:avLst>
              <a:gd name="adj" fmla="val 15000"/>
            </a:avLst>
          </a:prstGeom>
          <a:solidFill>
            <a:srgbClr val="F0F6F1"/>
          </a:solidFill>
          <a:ln w="12700">
            <a:solidFill>
              <a:srgbClr val="CFE3D8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4404" y="5669280"/>
            <a:ext cx="201168" cy="20116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151876" y="5495544"/>
            <a:ext cx="3214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수집으로 상시 적재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5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방식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부담 없이 시작합니다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 서버에 프로그램을 설치하지 않습니다 — 아래 3단계로 바로 시작합니다.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9584" cy="3246120"/>
          </a:xfrm>
          <a:prstGeom prst="roundRect">
            <a:avLst>
              <a:gd name="adj" fmla="val 338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621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51460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8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2898648"/>
            <a:ext cx="868680" cy="868680"/>
          </a:xfrm>
          <a:prstGeom prst="roundRect">
            <a:avLst>
              <a:gd name="adj" fmla="val 24000"/>
            </a:avLst>
          </a:prstGeom>
          <a:solidFill>
            <a:srgbClr val="F3ECD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070" y="3141878"/>
            <a:ext cx="382219" cy="3822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3931920"/>
            <a:ext cx="2798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테넌트 온보딩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4389120"/>
            <a:ext cx="2798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한 줄로 고객사 전용 API 키 발급. 원장이 완전히 격리되어 다른 고객사 데이터는 절대 볼 수 없다.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07992" y="2148840"/>
            <a:ext cx="3529584" cy="3246120"/>
          </a:xfrm>
          <a:prstGeom prst="roundRect">
            <a:avLst>
              <a:gd name="adj" fmla="val 338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621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73752" y="251460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8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73752" y="2898648"/>
            <a:ext cx="868680" cy="868680"/>
          </a:xfrm>
          <a:prstGeom prst="roundRect">
            <a:avLst>
              <a:gd name="adj" fmla="val 24000"/>
            </a:avLst>
          </a:prstGeom>
          <a:solidFill>
            <a:srgbClr val="F3ECD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982" y="3141878"/>
            <a:ext cx="382219" cy="38221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73752" y="3931920"/>
            <a:ext cx="2798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수집기 연동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873752" y="4389120"/>
            <a:ext cx="2798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 내부엔 가벼운 수집기만 설치. 실제 봉인·저장은 벤더가 운영하는 중립 서버에서 수행해 증거 신뢰성을 지킨다.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375904" y="2148840"/>
            <a:ext cx="3529584" cy="3246120"/>
          </a:xfrm>
          <a:prstGeom prst="roundRect">
            <a:avLst>
              <a:gd name="adj" fmla="val 338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621">
                <a:alpha val="14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741664" y="251460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8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741664" y="2898648"/>
            <a:ext cx="868680" cy="868680"/>
          </a:xfrm>
          <a:prstGeom prst="roundRect">
            <a:avLst>
              <a:gd name="adj" fmla="val 24000"/>
            </a:avLst>
          </a:prstGeom>
          <a:solidFill>
            <a:srgbClr val="F3ECD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894" y="3141878"/>
            <a:ext cx="382219" cy="38221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741664" y="3931920"/>
            <a:ext cx="2798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즉시 사용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741664" y="4389120"/>
            <a:ext cx="2798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직후 바로 필터링·PDF/CSV 다운로드까지 가능. 증적이 쌓일수록 방어 준비도 점수도 함께 올라간다.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5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183112" cy="5943600"/>
          </a:xfrm>
          <a:prstGeom prst="roundRect">
            <a:avLst>
              <a:gd name="adj" fmla="val 1846"/>
            </a:avLst>
          </a:prstGeom>
          <a:ln w="12700">
            <a:solidFill>
              <a:srgbClr val="2A38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91556" y="1051560"/>
            <a:ext cx="1005840" cy="1005840"/>
          </a:xfrm>
          <a:prstGeom prst="roundRect">
            <a:avLst>
              <a:gd name="adj" fmla="val 24000"/>
            </a:avLst>
          </a:prstGeom>
          <a:solidFill>
            <a:srgbClr val="C7A14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3191" y="1333195"/>
            <a:ext cx="442570" cy="4425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331720"/>
            <a:ext cx="103601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4F1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지금 조사가 들어와도,</a:t>
            </a:r>
            <a:endParaRPr lang="en-US" sz="4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4F1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입증할 수 있습니다.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9776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7A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가드노트로 안전조치 이행을 상시 증명하세요.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259836" y="4892040"/>
            <a:ext cx="5669280" cy="868680"/>
          </a:xfrm>
          <a:prstGeom prst="roundRect">
            <a:avLst>
              <a:gd name="adj" fmla="val 14737"/>
            </a:avLst>
          </a:prstGeom>
          <a:solidFill>
            <a:srgbClr val="16202D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59836" y="48920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㈜바틀</a:t>
            </a:r>
            <a:pPr algn="ctr" indent="0" marL="0">
              <a:buNone/>
            </a:pPr>
            <a:r>
              <a:rPr lang="en-US" sz="14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개인정보보호책임자 한승수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59836" y="52852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guardnote@bartle.example   ·   상시 증적 · 위변조 불가 · 즉시 입증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0" y="62179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9B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가드노트 · GuardNote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가드노트 소개서</dc:title>
  <dc:subject>PptxGenJS Presentation</dc:subject>
  <dc:creator>㈜바틀</dc:creator>
  <cp:lastModifiedBy>㈜바틀</cp:lastModifiedBy>
  <cp:revision>1</cp:revision>
  <dcterms:created xsi:type="dcterms:W3CDTF">2026-07-01T07:28:51Z</dcterms:created>
  <dcterms:modified xsi:type="dcterms:W3CDTF">2026-07-01T07:28:51Z</dcterms:modified>
</cp:coreProperties>
</file>