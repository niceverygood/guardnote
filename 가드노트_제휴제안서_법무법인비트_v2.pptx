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8" r:id="rId5"/>
    <p:sldId id="269" r:id="rId6"/>
    <p:sldId id="271" r:id="rId7"/>
    <p:sldId id="270" r:id="rId8"/>
    <p:sldId id="258" r:id="rId9"/>
    <p:sldId id="267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16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4128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3312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737360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66544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450592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79776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163824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93008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877056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206240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7A14A"/>
          </a:solidFill>
          <a:ln w="15240">
            <a:solidFill>
              <a:srgbClr val="C7A1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제안서  ·  법무법인 비트 귀중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</a:t>
            </a:r>
            <a:r>
              <a:rPr lang="en-US" sz="30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×  </a:t>
            </a:r>
            <a:r>
              <a:rPr lang="en-US" sz="4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법무법인 비트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증적 SaaS × 개인정보 전문 로펌 — 함께 만들 수 있는 것들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가드노트는 안전성 확보조치 이행 증적을 위변조 불가능한 해시체인으로 봉인해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“고의·과실 없음” 입증 자료로 축적하는 SaaS입니다. 비트의 개인정보 전문성과 만났을 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고객 모두에게 완결된 방어를 제공할 수 있다고 믿어 이 제안을 드립니다.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㈜바틀  ·  한승수  ·  dev@bottlecorp.kr  ·  2026. 7.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이행의 순간 봉인하는, 개인정보 안전조치 증적 원장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유출을 막는 보안 솔루션이 아닙니다 — 사고 때 “고의·과실 없음”을 입증할 증거를 평소에 쌓아 두는, 개인정보 버전의 블랙박스입니다.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0392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안전조치 활동이 기록되는 즉시 서버가 SHA-256으로 봉인 — 수정·삭제 API가 존재하지 않습니다.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기록의 해시와 체인으로 연결해 순서·시점 고정. 사후 끼워넣기·소급 수정이 불가능합니다.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0456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76488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76488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제네시스부터 전체 재검증 후 무결성 검증서(PDF)를 생성 — 조사·소송에 그대로 제출합니다.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251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확보조치 기준(고시) 9개 항목 전부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접속로그·권한변경 등 자동 수집 + 수동 기록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8188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모델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원장은 고객사 통제 밖 중립 서버 — “몰래 고쳤다” 의심 차단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8188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계층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해시체인 + 꼬리절단 탐지 + 외부 타임스탬프 앵커링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385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발췌 조회 → 무결성 검증서 포함 PDF/CSV 즉시 생성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5385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없음(SaaS) · 전자계약·자동결제 온라인 완결 · Free 플랜 제공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이해하기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계약서에 찍는 간인(間印)을, 디지털로 자동화한 것입니다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‘해시체인’이 낯설게 들리셔도 원리는 익숙합니다 — 여러 장짜리 계약서에 간인을 찍는 이유와 정확히 같습니다.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0392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간인 — 종이의 방식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장의 계약서에 도장을 장과 장 사이에 걸쳐 찍습니다. 한 장을 빼거나 바꿔 끼우면 어긋남이 바로 드러납니다.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해시체인 — 디지털 간인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기록마다 직전 기록의 지문(해시)을 물고 봉인됩니다. 한 건만 고쳐도 그 뒤 연결 전체가 어긋납니다.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0456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76488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76488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검증서 — 자동 대조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간인은 사람이 눈으로 대조하지만, 가드노트는 클릭 한 번에 전 구간을 재검증해 PDF 검증서로 만듭니다.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251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못 고치나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수정·삭제 기능이 아예 없습니다 — 기록은 쌓이기만 합니다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몰래 고치면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DB를 직접 조작해도 그 지점부터 어긋나 즉시 적발 — 오늘 시연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8188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주체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통제 밖 중립 서버 — “자기가 만든 증거” 의심을 구조로 차단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8188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바꾸면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지문을 외부에 서명·박제(앵커링) — 전체 재작성도 적발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385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쓰임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진정성·무결성 다툼에서 기술 검증 결과를 제시하는 자료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5385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쓰나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보안조직 없는 기업도 OK — 자동 수집 + 클릭 몇 번으로 유지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예시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고객사의 1년 — 도입부터 조사 대응까지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가상의 쇼핑몰 ‘한빛몰’(직원 30명, 보안팀 없음)의 이야기입니다. 바틀의 역할은 등기소와 같습니다 — 회사가 조작할 수 없는 곳에서 장부를 지키는 것.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32104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①  도입 — 계약 당일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2104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32104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없음 · 5분이면 끝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한빛몰이 받는 것은 접속 주소와 키 하나뿐입니다. 고객사 서버에 설치할 것이 없고, 담당자가 익힐 것도 화면 세 개가 전부입니다.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83096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②  평소 — 1년간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83096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83096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쌓이기만 합니다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83096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2일 퇴사자 권한 회수, 3월 15일 전직원 보안교육… 담당자가 한 줄 기록하는 순간 서버가 봉인합니다. 접속기록은 수집기가 매일 밤 자동으로 쌓습니다.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③  사고 — 이듬해 6월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사고 · 조사 통지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조사관: “이 기록, 사고 나고 만든 것 아닙니까?” — 검증서가 답합니다. 각 기록은 그 시점에 봉인됐고, 이후 단 한 건도 변경되지 않았습니다.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5352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83096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④  제출 — 조사·소송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83096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83096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변호인이 쓰는 재료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83096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기간을 발췌해 검증서 붙은 PDF로 제출합니다. 원장이 회사 통제 밖(바틀 서버)에 있었다는 사실이 ‘평소 이행’ 주장의 신빙성을 만듭니다.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· 평소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사용법 — 담당자는 한 줄, 나머지는 자동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서버에 설치하는 프로그램은 없습니다. 기록이 가드노트에 들어오는 길은 두 갈래 — 어느 쪽이든 도착하는 즉시 봉인됩니다.</a:t>
            </a:r>
            <a:endParaRPr lang="en-US" sz="1150" dirty="0"/>
          </a:p>
        </p:txBody>
      </p:sp>
      <p:sp>
        <p:nvSpPr>
          <p:cNvPr id="7" name="Shape Path1"/>
          <p:cNvSpPr/>
          <p:nvPr/>
        </p:nvSpPr>
        <p:spPr>
          <a:xfrm>
            <a:off x="594360" y="214884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Path1T"/>
          <p:cNvSpPr/>
          <p:nvPr/>
        </p:nvSpPr>
        <p:spPr>
          <a:xfrm>
            <a:off x="777240" y="22951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① 사람의 기록</a:t>
            </a:r>
            <a:endParaRPr lang="en-US" sz="1150" dirty="0"/>
          </a:p>
        </p:txBody>
      </p:sp>
      <p:sp>
        <p:nvSpPr>
          <p:cNvPr id="9" name="Text Path1B"/>
          <p:cNvSpPr/>
          <p:nvPr/>
        </p:nvSpPr>
        <p:spPr>
          <a:xfrm>
            <a:off x="777240" y="2633472"/>
            <a:ext cx="219456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브라우저에서 안전조치 활동을 한 줄 기록 — 30초. 권한 회수, 교육, 점검 등.</a:t>
            </a:r>
            <a:endParaRPr lang="en-US" sz="900" dirty="0"/>
          </a:p>
        </p:txBody>
      </p:sp>
      <p:sp>
        <p:nvSpPr>
          <p:cNvPr id="10" name="Shape Path2"/>
          <p:cNvSpPr/>
          <p:nvPr/>
        </p:nvSpPr>
        <p:spPr>
          <a:xfrm>
            <a:off x="3383280" y="214884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Path2T"/>
          <p:cNvSpPr/>
          <p:nvPr/>
        </p:nvSpPr>
        <p:spPr>
          <a:xfrm>
            <a:off x="3566160" y="22951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② 자동 수집 — 선택</a:t>
            </a:r>
            <a:endParaRPr lang="en-US" sz="1150" dirty="0"/>
          </a:p>
        </p:txBody>
      </p:sp>
      <p:sp>
        <p:nvSpPr>
          <p:cNvPr id="12" name="Text Path2B"/>
          <p:cNvSpPr/>
          <p:nvPr/>
        </p:nvSpPr>
        <p:spPr>
          <a:xfrm>
            <a:off x="3566160" y="2633472"/>
            <a:ext cx="219456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서버에 둔 수집기 파일 1개가 접속기록 등을 매일 밤 전송. 담당자가 잊어도 쌓입니다.</a:t>
            </a:r>
            <a:endParaRPr lang="en-US" sz="900" dirty="0"/>
          </a:p>
        </p:txBody>
      </p:sp>
      <p:sp>
        <p:nvSpPr>
          <p:cNvPr id="13" name="Shape Arrow1"/>
          <p:cNvSpPr/>
          <p:nvPr/>
        </p:nvSpPr>
        <p:spPr>
          <a:xfrm>
            <a:off x="1691640" y="3428808"/>
            <a:ext cx="365760" cy="329184"/>
          </a:xfrm>
          <a:prstGeom prst="downArrow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Arrow2"/>
          <p:cNvSpPr/>
          <p:nvPr/>
        </p:nvSpPr>
        <p:spPr>
          <a:xfrm>
            <a:off x="4480560" y="3428808"/>
            <a:ext cx="365760" cy="329184"/>
          </a:xfrm>
          <a:prstGeom prst="downArrow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Dest"/>
          <p:cNvSpPr/>
          <p:nvPr/>
        </p:nvSpPr>
        <p:spPr>
          <a:xfrm>
            <a:off x="594360" y="3849624"/>
            <a:ext cx="5349240" cy="1005840"/>
          </a:xfrm>
          <a:prstGeom prst="roundRect">
            <a:avLst>
              <a:gd name="adj" fmla="val 4615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DestT"/>
          <p:cNvSpPr/>
          <p:nvPr/>
        </p:nvSpPr>
        <p:spPr>
          <a:xfrm>
            <a:off x="777240" y="397764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E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서버 — ㈜바틀 운영, 고객사 통제 밖</a:t>
            </a:r>
            <a:endParaRPr lang="en-US" sz="1150" dirty="0"/>
          </a:p>
        </p:txBody>
      </p:sp>
      <p:sp>
        <p:nvSpPr>
          <p:cNvPr id="17" name="Text DestB"/>
          <p:cNvSpPr/>
          <p:nvPr/>
        </p:nvSpPr>
        <p:spPr>
          <a:xfrm>
            <a:off x="777240" y="4288536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즉시 직전 기록과 해시로 묶어 봉인 · 수정·삭제 API 없음 · 주기 검증 + 외부 앵커링</a:t>
            </a:r>
            <a:endParaRPr lang="en-US" sz="900" dirty="0"/>
          </a:p>
        </p:txBody>
      </p:sp>
      <p:sp>
        <p:nvSpPr>
          <p:cNvPr id="18" name="Text Onboard"/>
          <p:cNvSpPr/>
          <p:nvPr/>
        </p:nvSpPr>
        <p:spPr>
          <a:xfrm>
            <a:off x="594360" y="512064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연동의 전부: 고객사 → 가드노트, 단방향 전송입니다. </a:t>
            </a: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가드노트가 고객사 시스템에 접속하거나 설치되는 일은 없습니다. 도입 때 받는 것은 접속 주소와 키 하나 — 수집기 없이 수동 기록만으로도 사용할 수 있습니다.</a:t>
            </a:r>
            <a:endParaRPr lang="en-US" sz="950" dirty="0"/>
          </a:p>
        </p:txBody>
      </p:sp>
      <p:sp>
        <p:nvSpPr>
          <p:cNvPr id="19" name="Shape Browser"/>
          <p:cNvSpPr/>
          <p:nvPr/>
        </p:nvSpPr>
        <p:spPr>
          <a:xfrm>
            <a:off x="6568440" y="2148840"/>
            <a:ext cx="5029200" cy="3541595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Dot1"/>
          <p:cNvSpPr/>
          <p:nvPr/>
        </p:nvSpPr>
        <p:spPr>
          <a:xfrm>
            <a:off x="6687312" y="2217420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Dot2"/>
          <p:cNvSpPr/>
          <p:nvPr/>
        </p:nvSpPr>
        <p:spPr>
          <a:xfrm>
            <a:off x="6833616" y="2217420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Dot3"/>
          <p:cNvSpPr/>
          <p:nvPr/>
        </p:nvSpPr>
        <p:spPr>
          <a:xfrm>
            <a:off x="6979920" y="2217420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AddForm" descr="가드노트 활동 기록 추가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728" y="2368296"/>
            <a:ext cx="4992624" cy="3303851"/>
          </a:xfrm>
          <a:prstGeom prst="rect">
            <a:avLst/>
          </a:prstGeom>
        </p:spPr>
      </p:pic>
      <p:sp>
        <p:nvSpPr>
          <p:cNvPr id="24" name="Text ShotCaption"/>
          <p:cNvSpPr/>
          <p:nvPr/>
        </p:nvSpPr>
        <p:spPr>
          <a:xfrm>
            <a:off x="6568440" y="578713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— 항목 고르고 한 줄 쓰고 [원장에 봉인]이 전부입니다. 이 화면 어디에도 수정·삭제 버튼은 없습니다.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37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· 사고 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사고가 나면 — 클릭 몇 번으로 증거 패키지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조사관의 “이 기록, 사고 나고 만든 것 아닙니까”에 답하는 순서입니다 — 발췌하고, 검증하고, 검증서가 붙은 PDF를 그대로 제출합니다.</a:t>
            </a:r>
            <a:endParaRPr lang="en-US" sz="1150" dirty="0"/>
          </a:p>
        </p:txBody>
      </p:sp>
      <p:sp>
        <p:nvSpPr>
          <p:cNvPr id="7" name="Shape Step1"/>
          <p:cNvSpPr/>
          <p:nvPr/>
        </p:nvSpPr>
        <p:spPr>
          <a:xfrm>
            <a:off x="594360" y="1990725"/>
            <a:ext cx="3287520" cy="80010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Step1T"/>
          <p:cNvSpPr/>
          <p:nvPr/>
        </p:nvSpPr>
        <p:spPr>
          <a:xfrm>
            <a:off x="777240" y="2080260"/>
            <a:ext cx="292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발췌 조회</a:t>
            </a:r>
            <a:endParaRPr lang="en-US" sz="1150" dirty="0"/>
          </a:p>
        </p:txBody>
      </p:sp>
      <p:sp>
        <p:nvSpPr>
          <p:cNvPr id="9" name="Text Step1B"/>
          <p:cNvSpPr/>
          <p:nvPr/>
        </p:nvSpPr>
        <p:spPr>
          <a:xfrm>
            <a:off x="777240" y="2372868"/>
            <a:ext cx="2921760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5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기간·항목·담당자 필터로 ‘특정 사건 증거만’ 골라냅니다.</a:t>
            </a:r>
            <a:endParaRPr lang="en-US" sz="875" dirty="0"/>
          </a:p>
        </p:txBody>
      </p:sp>
      <p:sp>
        <p:nvSpPr>
          <p:cNvPr id="10" name="Shape StepArrow1"/>
          <p:cNvSpPr/>
          <p:nvPr/>
        </p:nvSpPr>
        <p:spPr>
          <a:xfrm>
            <a:off x="3961320" y="2276475"/>
            <a:ext cx="411480" cy="228600"/>
          </a:xfrm>
          <a:prstGeom prst="rightArrow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Step2"/>
          <p:cNvSpPr/>
          <p:nvPr/>
        </p:nvSpPr>
        <p:spPr>
          <a:xfrm>
            <a:off x="4452240" y="1990725"/>
            <a:ext cx="3287520" cy="80010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Step2T"/>
          <p:cNvSpPr/>
          <p:nvPr/>
        </p:nvSpPr>
        <p:spPr>
          <a:xfrm>
            <a:off x="4635120" y="2080260"/>
            <a:ext cx="292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무결성 검증</a:t>
            </a:r>
            <a:endParaRPr lang="en-US" sz="1150" dirty="0"/>
          </a:p>
        </p:txBody>
      </p:sp>
      <p:sp>
        <p:nvSpPr>
          <p:cNvPr id="13" name="Text Step2B"/>
          <p:cNvSpPr/>
          <p:nvPr/>
        </p:nvSpPr>
        <p:spPr>
          <a:xfrm>
            <a:off x="4635120" y="2372868"/>
            <a:ext cx="2921760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5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발췌와 무관하게 항상 전체 원장 기준 — ‘유리한 것만 골라냈다’는 다툼 차단.</a:t>
            </a:r>
            <a:endParaRPr lang="en-US" sz="875" dirty="0"/>
          </a:p>
        </p:txBody>
      </p:sp>
      <p:sp>
        <p:nvSpPr>
          <p:cNvPr id="14" name="Shape StepArrow2"/>
          <p:cNvSpPr/>
          <p:nvPr/>
        </p:nvSpPr>
        <p:spPr>
          <a:xfrm>
            <a:off x="7819200" y="2276475"/>
            <a:ext cx="411480" cy="228600"/>
          </a:xfrm>
          <a:prstGeom prst="rightArrow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Step3"/>
          <p:cNvSpPr/>
          <p:nvPr/>
        </p:nvSpPr>
        <p:spPr>
          <a:xfrm>
            <a:off x="8310120" y="1990725"/>
            <a:ext cx="3287520" cy="80010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Step3T"/>
          <p:cNvSpPr/>
          <p:nvPr/>
        </p:nvSpPr>
        <p:spPr>
          <a:xfrm>
            <a:off x="8493000" y="2080260"/>
            <a:ext cx="292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PDF 제출</a:t>
            </a:r>
            <a:endParaRPr lang="en-US" sz="1150" dirty="0"/>
          </a:p>
        </p:txBody>
      </p:sp>
      <p:sp>
        <p:nvSpPr>
          <p:cNvPr id="17" name="Text Step3B"/>
          <p:cNvSpPr/>
          <p:nvPr/>
        </p:nvSpPr>
        <p:spPr>
          <a:xfrm>
            <a:off x="8493000" y="2372868"/>
            <a:ext cx="2921760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5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 검증서가 붙은 증거 패키지 — 조사·소송에 그대로 제출.</a:t>
            </a:r>
            <a:endParaRPr lang="en-US" sz="875" dirty="0"/>
          </a:p>
        </p:txBody>
      </p:sp>
      <p:sp>
        <p:nvSpPr>
          <p:cNvPr id="18" name="Text LabelA"/>
          <p:cNvSpPr/>
          <p:nvPr/>
        </p:nvSpPr>
        <p:spPr>
          <a:xfrm>
            <a:off x="1684180" y="2895600"/>
            <a:ext cx="41680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— 발췌 적용 (담당자 ‘이수빈’ 기록만)</a:t>
            </a:r>
            <a:endParaRPr lang="en-US" sz="950" dirty="0"/>
          </a:p>
        </p:txBody>
      </p:sp>
      <p:sp>
        <p:nvSpPr>
          <p:cNvPr id="19" name="Text LabelB"/>
          <p:cNvSpPr/>
          <p:nvPr/>
        </p:nvSpPr>
        <p:spPr>
          <a:xfrm>
            <a:off x="6080831" y="2895600"/>
            <a:ext cx="4426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— PDF에 자동 포함되는 무결성 검증서</a:t>
            </a:r>
            <a:endParaRPr lang="en-US" sz="950" dirty="0"/>
          </a:p>
        </p:txBody>
      </p:sp>
      <p:sp>
        <p:nvSpPr>
          <p:cNvPr id="20" name="Shape BrowserA"/>
          <p:cNvSpPr/>
          <p:nvPr/>
        </p:nvSpPr>
        <p:spPr>
          <a:xfrm>
            <a:off x="1684180" y="3230000"/>
            <a:ext cx="4168051" cy="2971800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DotA1"/>
          <p:cNvSpPr/>
          <p:nvPr/>
        </p:nvSpPr>
        <p:spPr>
          <a:xfrm>
            <a:off x="1803052" y="3298580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DotA2"/>
          <p:cNvSpPr/>
          <p:nvPr/>
        </p:nvSpPr>
        <p:spPr>
          <a:xfrm>
            <a:off x="1949356" y="3298580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DotA3"/>
          <p:cNvSpPr/>
          <p:nvPr/>
        </p:nvSpPr>
        <p:spPr>
          <a:xfrm>
            <a:off x="2095660" y="3298580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Excerpt" descr="가드노트 발췌 적용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68" y="3449456"/>
            <a:ext cx="4131475" cy="2734056"/>
          </a:xfrm>
          <a:prstGeom prst="rect">
            <a:avLst/>
          </a:prstGeom>
        </p:spPr>
      </p:pic>
      <p:sp>
        <p:nvSpPr>
          <p:cNvPr id="25" name="Shape DocB"/>
          <p:cNvSpPr/>
          <p:nvPr/>
        </p:nvSpPr>
        <p:spPr>
          <a:xfrm>
            <a:off x="6080831" y="3230000"/>
            <a:ext cx="4426990" cy="2971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Cert" descr="가드노트 무결성 검증서 페이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119" y="3248288"/>
            <a:ext cx="4390414" cy="2935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— 검증 — 제출, 담당자는 이 세 화면으로 씁니다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운영 중인 서비스 화면 그대로입니다 (데모 테넌트 기준).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13232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59536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05840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/private/tmp/claude-502/-Users-seungsoohan-Projects-GuardNote/91beea4a-0678-4f48-9929-7d6123f61fc8/scratchpad/shots/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606040"/>
            <a:ext cx="3483864" cy="220027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02920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9848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현황 대시보드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94360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항목의 이행 상태와 방어 준비도 점수. 수집기 연동 시 증적은 자동으로 쌓입니다.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07408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526280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672584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818888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/private/tmp/claude-502/-Users-seungsoohan-Projects-GuardNote/91beea4a-0678-4f48-9929-7d6123f61fc8/scratchpad/shots/led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606040"/>
            <a:ext cx="3483864" cy="220027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407408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315968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82896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 원장 · 무결성 검증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407408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한 번으로 전체 체인 재검증 — “봉인 이후 단 한 건도 변경되지 않았습니다”를 즉시 확인합니다.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220456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8339328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8485632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8631936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/private/tmp/claude-502/-Users-seungsoohan-Projects-GuardNote/91beea4a-0678-4f48-9929-7d6123f61fc8/scratchpad/shots/ev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606040"/>
            <a:ext cx="3483864" cy="220027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220456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8129016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695944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패키지 제출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8220456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 검증서가 붙은 PDF를 즉시 생성해 조사·소송에 그대로 제출합니다.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 5분 — 네 장면으로 직접 확인하시죠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운영 중인 서비스 화면입니다. 특히 ③에서 — 화면이 아니라 데이터베이스 원본을 직접 고쳤는데도 적발되는 장면을 봐주세요.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32104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①  평소 — 기록과 봉인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2104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32104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블록이 사슬처럼 연결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안전조치 활동을 입력하는 즉시 직전 기록과 물려 봉인됩니다. 화면 어디에도 수정·삭제 버튼이 없다는 점을 확인하실 수 있습니다.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83096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②  검증 — 클릭 한 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83096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83096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전 구간 재계산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83096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하나로 원장 전체를 처음부터 다시 계산해 대조합니다. “봉인 이후 단 한 건도 변경되지 않았습니다” — 이 문장이 검증 결과입니다.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③  사건 — DB 직접 조작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하이라이트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몰래 기록을 사고 이전으로 소급 수정하는 상황을 재현합니다. 재검증하는 순간 — 조작 지점부터 이후 전체가 빨갛게 무효 처리되는 것을 보시게 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5352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83096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④  제출 — 증거 패키지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83096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83096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조사·소송 제출물 형태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83096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 검증서가 붙은 PDF를 그 자리에서 생성합니다. 기간·담당자 발췌로 ‘특정 사건 증거만’ 추려 내는 것까지 시연합니다.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‘증적’이 자문 시장의 중심으로 오고 있습니다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사고 10건 중 7건은 ‘사람’에서 시작됩니다(Verizon DBIR) — 영화 같은 해킹이 아니라 내부자 반출과 실수.</a:t>
            </a:r>
            <a:br>
              <a:rPr lang="en-US" sz="1150" dirty="0"/>
            </a:b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조사·분쟁의 쟁점도 “막았는가”가 아니라 “사람 관리를 증명할 수 있는가”입니다.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6,246억 원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95528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과징금 — 역대 최대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“고도의 해킹이 아니라 기본적인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안전관리 체계 미비” (개인정보위,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2026.6 의결 취지)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11880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 3%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61188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과징금 산정 상한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안전조치 의무 위반 시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매출액 기준 산정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27064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28232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14만 명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428232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 분쟁조정 신청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28232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건 하나에 몰린 규모 —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 청구 시대의 개막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43416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244584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300만 원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244584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법정손해배상 (1인당)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44584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 증명 없이 청구 가능 —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고의·과실 요건 삭제 입법도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중 (§39의2)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4663440"/>
            <a:ext cx="11000232" cy="1051560"/>
          </a:xfrm>
          <a:prstGeom prst="roundRect">
            <a:avLst>
              <a:gd name="adj" fmla="val 7826"/>
            </a:avLst>
          </a:prstGeom>
          <a:solidFill>
            <a:srgbClr val="0E1621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4400" y="4828032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기업은 “평소에 증명 수단을 만들어야” 하고, 로펌은 “그 증거로 방어”해야 합니다.
</a:t>
            </a:r>
            <a:r>
              <a:rPr lang="en-US" sz="11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증적을 만드는 SaaS와 증적으로 싸우는 로펌 — 이 제휴가 자연스러운 이유입니다.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법무법인 비트인가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비트를 첫 파트너로 생각한 이유</a:t>
            </a:r>
            <a:endParaRPr lang="en-US" sz="2700" dirty="0"/>
          </a:p>
        </p:txBody>
      </p:sp>
      <p:sp>
        <p:nvSpPr>
          <p:cNvPr id="22" name="Text Origin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가드노트는 최성호 대표님과의 점심 대화에서 태어난 제품입니다 — 아이디어가 시작된 곳에 첫 제휴를 제안합니다.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02536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96596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개인정보가 주력 분야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229514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VEAT PRIVACY CENTER와 개인정보팀 — 유출 대응, 처리방침·위탁계약 검토, ISMS 컨설팅, GDPR/CCPA 자문까지. 가드노트가 쌓는 증적은 정확히 이 자문들의 재료입니다.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026664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3008376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99008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기술을 이해하는 로펌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33192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서울대 컴퓨터공학 출신 대표변호사(PIPL 심사원·정보처리기사)와 이공계 전공 변호사진 — 해시체인 기반 증적 시스템의 가치를 있는 그대로 평가할 수 있는 드문 로펌입니다.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050792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4032504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" y="401421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 제휴 경험 보유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모두싸인과 ‘스타트업 계약서 KIT’ 공동 배포, 주주관리 SaaS ZUZU 법률 파트너 — 스타트업 SaaS와의 제휴 실무를 이미 알고 계십니다.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5074920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5056632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" y="503834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고객군이 정확히 겹침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53675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테크 스타트업·VC 중심 고객 기반과 ‘월간비트’ 뉴스레터(개인정보·AI 주제 다수) — 가드노트의 타깃(전담 보안조직 없는 기술기업)과 같은 풀, 같은 채널입니다.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제안하는 협력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가볍게 시작해 깊게 갈 수 있는 4가지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①②는 바로 시작할 수 있는 것, ③④는 관계가 쌓이면 자연스러운 것 — 모두 대가 비연동·정액 구조입니다.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32104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①  계약서 감수 + 신뢰마크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2104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32104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→ 비트 (감수료)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가드노트의 서비스 이용계약서·개인정보 처리위탁계약서를 비트가 감수하고, 제품과 소개서에 “법무법인 비트 감수”를 표시합니다. 통상의 수임 — 즉시 착수 가능합니다.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83096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②  ‘개인정보 방어 KIT’ + 공동 웨비나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83096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83096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각자 부담 · 리드 공유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83096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위탁계약 템플릿 + 자가진단 체크리스트 + 가드노트 Free를 묶은 KIT 공동 배포 (모두싸인 KIT의 개인정보판). 첫 웨비나: “쿠팡 6,246억 — 제재 수위를 가른 것은 증적이었다”.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③  유출 대응 상호 연계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 없음 · 고객이 각자 지불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‘유출 대응’ 화면에 비트를 자문 로펌으로 노출 — 고객이 비트에 직접 수임. 역방향으로 비트 자문 고객에게 가드노트 안내. 소개 대가는 어느 방향으로도 없습니다.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5352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83096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④  상시 고문계약 + 어드바이저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83096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83096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→ 비트 (고문료)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83096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제품·규제 리스크 상시 자문 + “자문: 법무법인 비트” 표시. 나아가 어드바이저·감사 참여, 지분 참여 옵션까지 열어 두고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변호사법·윤리장전을 전제로 설계했습니다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제휴가 오래가려면 규제 위에 서 있어야 한다고 생각합니다 — 아래 원칙을 지키는 구조만 제안드립니다.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100023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32104" y="2185416"/>
            <a:ext cx="365760" cy="365760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0664" y="2167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71600" y="20939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소개 대가, 없음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9948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소개에 결부된 수수료·리베이트는 어느 방향으로도 수수하지 않습니다 (변호사법 §34①·② 전제). 상호 소개는 무대가 — 비트의 유인은 커미션이 아니라 증적 고객으로부터 자연히 발생하는 자문 수요라고 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209544"/>
            <a:ext cx="1100023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32104" y="3429000"/>
            <a:ext cx="365760" cy="365760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0664" y="34107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분배, 없음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3666744"/>
            <a:ext cx="9948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법률사무 수익의 공유·공동수임 구조는 만들지 않습니다 (§34⑤, 윤리장전 §34). 돈의 흐름은 ‘가드노트→비트(감수료·고문료)’ 또는 ‘고객이 각자에게 별도 지불’ 두 가지뿐입니다.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4453128"/>
            <a:ext cx="1100023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32104" y="4672584"/>
            <a:ext cx="365760" cy="365760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0664" y="46542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71600" y="45811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광고규정 준수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71600" y="4910328"/>
            <a:ext cx="9948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마케팅에서 ‘무료 법률상담’ 류 표현을 쓰지 않고, 광고는 정액·비연동으로만 합니다 (변협 광고규정, 헌재 2021헌마619 기준 전제).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585216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물론 이 부분의 최종 판단은 비트가 전문가이십니다 — 세부 구조는 비트의 기준에 맞춰 조정하겠습니다.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얻는 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리퍼럴 피 없이도 성립하는 이유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0E1621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법무법인 비트가 얻는 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자문 수요 깔때기
</a:t>
            </a: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증적을 쌓는 고객 = 점검·조사·소송 자문의 잠재 고객. 유출 사고 시 가드노트 화면에서 비트로 연결됩니다.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3814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리드 채널
</a:t>
            </a: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웨비나·KIT 배포로 스타트업 리드 확보 — 월간비트 구독자 풀과 상호 보완.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‘기술 로펌’ 브랜딩
</a:t>
            </a: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해시체인 증적 SaaS의 공식 감수·자문 로펌 — 율촌×BHSN처럼 기술 이해도의 증거가 됩니다.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82803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신규 자문 상품
</a:t>
            </a: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‘가드노트 증적 기반 정기 컴플라이언스 점검’ 같은 반복형 자문 패키지 설계 가능.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19672" y="2240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가드노트가 얻는 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274320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법률 신뢰도
</a:t>
            </a: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“법무법인 비트 감수” — 법무팀·CISO를 설득하는 가장 강한 신뢰마크.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343814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제품의 법적 완성도
</a:t>
            </a: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계약서·증거 패키지 양식이 실제 조사·소송 실무 기준으로 다듬어집니다.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9672" y="41330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증거력의 실전 검증
</a:t>
            </a: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비트가 실제 사건에서 가드노트 검증서를 활용 — 케이스 스터디가 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9672" y="482803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채널
</a:t>
            </a: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자문 고객·뉴스레터를 통한 자연스러운 도달 (대가 없는 안내).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컴플라이언스 SaaS×전문서비스 제휴(Vanta·Workiva 등)의 공통 원리 — 파트너의 유인은 수수료가 아니라 ‘툴이 만들어 주는 서비스 매출’입니다.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비전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한국형 Breach Coach — 비어 있는 시장을 함께 선점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미국은 사이버보험사가 패널 로펌·포렌식·SaaS를 묶어 사고 대응을 표준화했습니다. 한국은 이 생태계가 아직 없습니다.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0392" y="2523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미국의 표준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999232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사이버보험사가 사전 승인 패널(breach coach 로펌 + 포렌식 + 대응 툴)을 운영 — 사고 시 보험금에서 직접 지급. 패널 등재가 로펌 최대 영업 채널이 된 구조 (Coalition, Chubb 등).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96512" y="329184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07408" y="2286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2523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한국의 공백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999232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사이버보험은 초기 단계 — 공개된 보험사 벤더 패널도, 사고 대응 전업 로펌도 아직 없습니다. 72시간 신고 의무와 맞물린 ‘사고 대응 패키지’ 수요는 확실합니다.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09560" y="329184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0456" y="2286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202D"/>
          </a:solidFill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76488" y="2523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만들 패키지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76488" y="2999232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비트(법률 총괄) + 가드노트(평시 증적·사고 기록) + 포렌식 파트너 — 이 3자 패키지를 사이버보험사에 패널로 제안합니다. 평시 증적은 보험 언더라이팅 자료도 됩니다.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507492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시작하는 ①감수·②웨비나가 이 장기 그림의 첫 단추입니다.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가볍게, 두 가지부터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시작하면 어떨까요.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rgbClr val="16202D"/>
          </a:solidFill>
          <a:ln w="1270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304495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88720" y="30083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감수 착수   </a:t>
            </a: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이용계약서·처리위탁계약서 2건 — 착수 즉시 저희가 감수료를 지급하는 통상 수임입니다.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76472"/>
            <a:ext cx="384048" cy="384048"/>
          </a:xfrm>
          <a:prstGeom prst="ellipse">
            <a:avLst/>
          </a:prstGeom>
          <a:solidFill>
            <a:srgbClr val="16202D"/>
          </a:solidFill>
          <a:ln w="1270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375818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3721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웨비나 1회   </a:t>
            </a: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“쿠팡 6,246억 — 제재 수위를 가른 것은 증적이었다” · 비트가 법리, 저희가 시연 · 리드 공유.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489704"/>
            <a:ext cx="384048" cy="384048"/>
          </a:xfrm>
          <a:prstGeom prst="ellipse">
            <a:avLst/>
          </a:prstGeom>
          <a:solidFill>
            <a:srgbClr val="16202D"/>
          </a:solidFill>
          <a:ln w="1270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447141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44348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리뷰   </a:t>
            </a: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반응을 보고 ③유출 대응 연계, ④고문계약, 장기 비전 순으로 넓혀 가시죠.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548640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5486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데모·미팅 언제든 환영합니다  ·  dev@bottlecorp.kr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㈜바틀 · 한승수 드림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2356</Words>
  <Application>Microsoft Macintosh PowerPoint</Application>
  <PresentationFormat>사용자 지정</PresentationFormat>
  <Paragraphs>245</Paragraphs>
  <Slides>16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SEUNGSOO HAN</cp:lastModifiedBy>
  <cp:revision>2</cp:revision>
  <dcterms:created xsi:type="dcterms:W3CDTF">2026-07-02T08:53:37Z</dcterms:created>
  <dcterms:modified xsi:type="dcterms:W3CDTF">2026-07-06T05:32:43Z</dcterms:modified>
</cp:coreProperties>
</file>